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5A93C"/>
                </a:solidFill>
                <a:latin typeface="Poppins"/>
              </a:defRPr>
            </a:pPr>
            <a:r>
              <a:t>✦  ENGLISH LANGUAGE SPECIALIZED MASTERCLASS • INTERACTIVE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9FA"/>
                </a:solidFill>
                <a:latin typeface="Poppins"/>
              </a:defRPr>
            </a:pPr>
            <a:r>
              <a:t>Irregular Verbs for Kids</a:t>
            </a:r>
          </a:p>
          <a:p>
            <a:pPr>
              <a:defRPr sz="1500">
                <a:solidFill>
                  <a:srgbClr val="4CC9F0"/>
                </a:solidFill>
                <a:latin typeface="Poppins"/>
              </a:defRPr>
            </a:pPr>
            <a:r>
              <a:t>Visual Explanations, Dynamic Cartoons, and Native Fluency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874519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5A93C"/>
                </a:solidFill>
                <a:latin typeface="Poppins"/>
              </a:defRPr>
            </a:pPr>
            <a:r>
              <a:t>INSTRUCTOR &amp; PEDAGOGICAL LEAD / المُحاضر</a:t>
            </a:r>
          </a:p>
          <a:p>
            <a:pPr>
              <a:defRPr sz="1800" b="1">
                <a:solidFill>
                  <a:srgbClr val="F8F9FA"/>
                </a:solidFill>
                <a:latin typeface="Poppins"/>
              </a:defRPr>
            </a:pPr>
            <a:r>
              <a:t>MR. Mohamed Nasser Badawy  |  مستر محمد ناصر بدوي</a:t>
            </a:r>
          </a:p>
          <a:p>
            <a:pPr>
              <a:defRPr sz="1300">
                <a:solidFill>
                  <a:srgbClr val="94A3B8"/>
                </a:solidFill>
                <a:latin typeface="Cairo"/>
              </a:defRPr>
            </a:pPr>
            <a:r>
              <a:t>English Language Teacher - 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292608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Poppins"/>
              </a:defRPr>
            </a:pPr>
            <a:r>
              <a:t>✦  MODULE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500" b="1">
                <a:solidFill>
                  <a:srgbClr val="F8F9FA"/>
                </a:solidFill>
                <a:latin typeface="Cairo"/>
              </a:defRPr>
            </a:pPr>
            <a: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72184"/>
            <a:ext cx="1645920" cy="36576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E5A93C"/>
                </a:solidFill>
                <a:latin typeface="Poppins"/>
              </a:defRPr>
            </a:pPr>
            <a:r>
              <a:t>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Visual Action Verbs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Cartoon action scenarios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Core meaning &amp; prepositions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E5A93C"/>
                </a:solidFill>
                <a:latin typeface="Poppins"/>
              </a:defRPr>
            </a:pPr>
            <a:r>
              <a:t>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Time &amp; Perspective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Present Perfect vs Past Simple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When to use each tense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E5A93C"/>
                </a:solidFill>
                <a:latin typeface="Poppins"/>
              </a:defRPr>
            </a:pPr>
            <a:r>
              <a:t>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Tense Matrix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Side-by-side comparison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Key time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E5A93C"/>
                </a:solidFill>
                <a:latin typeface="Poppins"/>
              </a:defRPr>
            </a:pPr>
            <a:r>
              <a:t>04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4. Fluency Formula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Step-by-step sentence building</a:t>
            </a:r>
          </a:p>
          <a:p>
            <a:pPr>
              <a:defRPr sz="1200">
                <a:solidFill>
                  <a:srgbClr val="94A3B8"/>
                </a:solidFill>
                <a:latin typeface="Poppins"/>
              </a:defRPr>
            </a:pPr>
            <a:r>
              <a:t>•  Common mistakes to avoid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292608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Poppins"/>
              </a:defRPr>
            </a:pPr>
            <a:r>
              <a:t>✦  CARTOON EXPLAINER • شرح مصور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9FA"/>
                </a:solidFill>
                <a:latin typeface="Poppins"/>
              </a:defRPr>
            </a:pPr>
            <a:r>
              <a:t>Present Perfect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72184"/>
            <a:ext cx="1645920" cy="36576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toon_Present_Perfect_Tense_38551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023360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97280" y="5833872"/>
            <a:ext cx="36576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CC9F0"/>
                </a:solidFill>
                <a:latin typeface="Poppins"/>
              </a:defRPr>
            </a:pPr>
            <a:r>
              <a:t>🎨 Visual Explainer • رسم توضيحي كارتوني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292608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CC9F0"/>
                </a:solidFill>
                <a:latin typeface="Poppins"/>
              </a:defRPr>
            </a:pPr>
            <a:r>
              <a:t>🗣  /ˈprez.ənt ˈpɜː.fɪkt/ • (have / has + V3)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5A93C"/>
                </a:solidFill>
                <a:latin typeface="Poppins"/>
              </a:defRPr>
            </a:pPr>
            <a:r>
              <a:t>المعنى والقاعدة / Meaning &amp; Rule:</a:t>
            </a:r>
          </a:p>
          <a:p>
            <a:pPr>
              <a:defRPr sz="1400">
                <a:solidFill>
                  <a:srgbClr val="F8F9FA"/>
                </a:solidFill>
                <a:latin typeface="Poppins"/>
              </a:defRPr>
            </a:pPr>
            <a:r>
              <a:t>Connects past actions directly to the present moment. We use it when the exact past time doesn't matter, but the result is visible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CC9F0"/>
                </a:solidFill>
              </a:defRPr>
            </a:pPr>
            <a:r>
              <a:t>نقاط التركيز والاستخدام / Key Notes:</a:t>
            </a:r>
          </a:p>
          <a:p>
            <a:pPr>
              <a:defRPr sz="1200">
                <a:solidFill>
                  <a:srgbClr val="F8F9FA"/>
                </a:solidFill>
                <a:latin typeface="Poppins"/>
              </a:defRPr>
            </a:pPr>
            <a:r>
              <a:t>✔  Structure: Subject + have / has + Past Participle (V3).</a:t>
            </a:r>
          </a:p>
          <a:p>
            <a:pPr>
              <a:defRPr sz="1200">
                <a:solidFill>
                  <a:srgbClr val="F8F9FA"/>
                </a:solidFill>
                <a:latin typeface="Poppins"/>
              </a:defRPr>
            </a:pPr>
            <a:r>
              <a:t>✔  Keywords: already, just, yet, ever, never, recently, since, for.</a:t>
            </a:r>
          </a:p>
          <a:p>
            <a:pPr>
              <a:defRPr sz="1200">
                <a:solidFill>
                  <a:srgbClr val="F8F9FA"/>
                </a:solidFill>
                <a:latin typeface="Poppins"/>
              </a:defRPr>
            </a:pPr>
            <a:r>
              <a:t>✔  Focuses on life experiences and ongoing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C4B6"/>
                </a:solidFill>
              </a:defRPr>
            </a:pPr>
            <a:r>
              <a:t>💡 مثال عملي / Practical Example:</a:t>
            </a:r>
          </a:p>
          <a:p>
            <a:pPr>
              <a:defRPr sz="1300" b="1">
                <a:solidFill>
                  <a:srgbClr val="F8F9FA"/>
                </a:solidFill>
              </a:defRPr>
            </a:pPr>
            <a:r>
              <a:t>“ “ I have already finished my assignment, so I can relax! ”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3" grpId="0" build="asOne"/>
      <p:bldGraphic spid="14" grpId="0" build="asOne"/>
      <p:bldGraphic spid="15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292608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Poppins"/>
              </a:defRPr>
            </a:pPr>
            <a:r>
              <a:t>✦  CARTOON EXPLAINER • شرح مصور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9FA"/>
                </a:solidFill>
                <a:latin typeface="Poppins"/>
              </a:defRPr>
            </a:pPr>
            <a:r>
              <a:t>Phrasal Verb: Look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72184"/>
            <a:ext cx="1645920" cy="36576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toon_Phrasal_Verb__Look_After_7c94b9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023360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97280" y="5833872"/>
            <a:ext cx="36576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CC9F0"/>
                </a:solidFill>
                <a:latin typeface="Poppins"/>
              </a:defRPr>
            </a:pPr>
            <a:r>
              <a:t>🎨 Visual Explainer • رسم توضيحي كارتوني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292608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CC9F0"/>
                </a:solidFill>
                <a:latin typeface="Poppins"/>
              </a:defRPr>
            </a:pPr>
            <a:r>
              <a:t>🗣  /lʊk ˈɑːf.tər/ • Verb + Preposition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5A93C"/>
                </a:solidFill>
                <a:latin typeface="Poppins"/>
              </a:defRPr>
            </a:pPr>
            <a:r>
              <a:t>المعنى والقاعدة / Meaning &amp; Rule:</a:t>
            </a:r>
          </a:p>
          <a:p>
            <a:pPr>
              <a:defRPr sz="1400">
                <a:solidFill>
                  <a:srgbClr val="F8F9FA"/>
                </a:solidFill>
                <a:latin typeface="Poppins"/>
              </a:defRPr>
            </a:pPr>
            <a:r>
              <a:t>Means to take care of someone or something, providing attention, food, or 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CC9F0"/>
                </a:solidFill>
              </a:defRPr>
            </a:pPr>
            <a:r>
              <a:t>نقاط التركيز والاستخدام / Key Notes:</a:t>
            </a:r>
          </a:p>
          <a:p>
            <a:pPr>
              <a:defRPr sz="1200">
                <a:solidFill>
                  <a:srgbClr val="F8F9FA"/>
                </a:solidFill>
                <a:latin typeface="Poppins"/>
              </a:defRPr>
            </a:pPr>
            <a:r>
              <a:t>✔  Synonyms: Care for, nurse, protect, attend to.</a:t>
            </a:r>
          </a:p>
          <a:p>
            <a:pPr>
              <a:defRPr sz="1200">
                <a:solidFill>
                  <a:srgbClr val="F8F9FA"/>
                </a:solidFill>
                <a:latin typeface="Poppins"/>
              </a:defRPr>
            </a:pPr>
            <a:r>
              <a:t>✔  Common collocations: look after children, look after pets, look after yourself.</a:t>
            </a:r>
          </a:p>
          <a:p>
            <a:pPr>
              <a:defRPr sz="1200">
                <a:solidFill>
                  <a:srgbClr val="F8F9FA"/>
                </a:solidFill>
                <a:latin typeface="Poppins"/>
              </a:defRPr>
            </a:pPr>
            <a:r>
              <a:t>✔  Inseparable verb: the object comes right after the preposition.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C4B6"/>
                </a:solidFill>
              </a:defRPr>
            </a:pPr>
            <a:r>
              <a:t>💡 مثال عملي / Practical Example:</a:t>
            </a:r>
          </a:p>
          <a:p>
            <a:pPr>
              <a:defRPr sz="1300" b="1">
                <a:solidFill>
                  <a:srgbClr val="F8F9FA"/>
                </a:solidFill>
              </a:defRPr>
            </a:pPr>
            <a:r>
              <a:t>“ “ Can you please look after my cat while I am traveling? ”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3" grpId="0" build="asOne"/>
      <p:bldGraphic spid="14" grpId="0" build="asOne"/>
      <p:bldGraphic spid="15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292608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Poppins"/>
              </a:defRPr>
            </a:pPr>
            <a:r>
              <a:t>✦  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9FA"/>
                </a:solidFill>
                <a:latin typeface="Poppins"/>
              </a:defRPr>
            </a:pPr>
            <a:r>
              <a:t>Tense Matrix: Present Perfect vs 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72184"/>
            <a:ext cx="1645920" cy="36576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E5A93C"/>
                          </a:solidFill>
                          <a:latin typeface="Poppins"/>
                        </a:defRPr>
                      </a:pPr>
                      <a:r>
                        <a:t>Grammar Dimension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4CC9F0"/>
                          </a:solidFill>
                          <a:latin typeface="Poppins"/>
                        </a:defRPr>
                      </a:pPr>
                      <a:r>
                        <a:t>Present Perfect (have + V3)</a:t>
                      </a:r>
                    </a:p>
                  </a:txBody>
                  <a:tcPr anchor="ctr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4CC9F0"/>
                          </a:solidFill>
                          <a:latin typeface="Poppins"/>
                        </a:defRPr>
                      </a:pPr>
                      <a:r>
                        <a:t>Past Simple (V2)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Time Connection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Connected to the present; result matters now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Finished action in a completed time period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Time Markers</a:t>
                      </a:r>
                    </a:p>
                  </a:txBody>
                  <a:tcPr anchor="ctr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Already, yet, ever, just, since, for</a:t>
                      </a:r>
                    </a:p>
                  </a:txBody>
                  <a:tcPr anchor="ctr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Yesterday, last year, in 2022, two days ago</a:t>
                      </a:r>
                    </a:p>
                  </a:txBody>
                  <a:tcPr anchor="ctr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Living in London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I have lived in London for 5 years (still there)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I lived in London in 2018 (not there anymore)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292608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Poppins"/>
              </a:defRPr>
            </a:pPr>
            <a:r>
              <a:t>✦  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9FA"/>
                </a:solidFill>
                <a:latin typeface="Poppins"/>
              </a:defRPr>
            </a:pPr>
            <a:r>
              <a:t>The 3-Step Native Sentence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81328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72184"/>
            <a:ext cx="1645920" cy="36576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STEP 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Pick the Perspective</a:t>
            </a:r>
          </a:p>
          <a:p>
            <a:pPr>
              <a:defRPr sz="1300">
                <a:solidFill>
                  <a:srgbClr val="94A3B8"/>
                </a:solidFill>
                <a:latin typeface="Poppins"/>
              </a:defRPr>
            </a:pPr>
            <a:r>
              <a:t>Is the result active right now, or completely closed in the past?</a:t>
            </a:r>
          </a:p>
          <a:p>
            <a:br/>
            <a:pPr>
              <a:defRPr sz="1200">
                <a:solidFill>
                  <a:srgbClr val="4CC9F0"/>
                </a:solidFill>
              </a:defRPr>
            </a:pPr>
            <a:r>
              <a:t>💡 Current vs Finished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STEP 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Select Auxiliary Verb</a:t>
            </a:r>
          </a:p>
          <a:p>
            <a:pPr>
              <a:defRPr sz="1300">
                <a:solidFill>
                  <a:srgbClr val="94A3B8"/>
                </a:solidFill>
                <a:latin typeface="Poppins"/>
              </a:defRPr>
            </a:pPr>
            <a:r>
              <a:t>Use have/has for perfect, or drop directly to V2 for past.</a:t>
            </a:r>
          </a:p>
          <a:p>
            <a:br/>
            <a:pPr>
              <a:defRPr sz="1200">
                <a:solidFill>
                  <a:srgbClr val="4CC9F0"/>
                </a:solidFill>
              </a:defRPr>
            </a:pPr>
            <a:r>
              <a:t>💡 have/has + V3 vs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A93C"/>
                </a:solidFill>
              </a:defRPr>
            </a:pPr>
            <a:r>
              <a:t>STEP 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Add Time Polish</a:t>
            </a:r>
          </a:p>
          <a:p>
            <a:pPr>
              <a:defRPr sz="1300">
                <a:solidFill>
                  <a:srgbClr val="94A3B8"/>
                </a:solidFill>
                <a:latin typeface="Poppins"/>
              </a:defRPr>
            </a:pPr>
            <a:r>
              <a:t>Use natural adverbs like 'already', 'recently', or 'yesterday'.</a:t>
            </a:r>
          </a:p>
          <a:p>
            <a:br/>
            <a:pPr>
              <a:defRPr sz="1200">
                <a:solidFill>
                  <a:srgbClr val="4CC9F0"/>
                </a:solidFill>
              </a:defRPr>
            </a:pPr>
            <a:r>
              <a:t>💡 Place adverb naturally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E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5A93C"/>
                </a:solidFill>
                <a:latin typeface="Poppins"/>
              </a:defRPr>
            </a:pPr>
            <a:r>
              <a:t>Thank You! | بالتوفيق والنجاح الدائم</a:t>
            </a:r>
          </a:p>
          <a:p>
            <a:pPr algn="ctr">
              <a:defRPr sz="1500" i="1">
                <a:solidFill>
                  <a:srgbClr val="4CC9F0"/>
                </a:solidFill>
                <a:latin typeface="Cairo"/>
              </a:defRPr>
            </a:pPr>
            <a:r>
              <a:t>"Every expert was once a beginner. Keep practicing, and never stop learning!"</a:t>
            </a:r>
            <a:br/>
            <a:r>
              <a:t>«التعلم رحلة مستمرة.. استمر في التدريب والتطبيق دائماً»</a:t>
            </a:r>
          </a:p>
          <a:p>
            <a:pPr algn="ctr">
              <a:defRPr sz="1300">
                <a:solidFill>
                  <a:srgbClr val="94A3B8"/>
                </a:solidFill>
                <a:latin typeface="Cairo"/>
              </a:defRPr>
            </a:pPr>
            <a:r>
              <a:t>للتواصل وحجز الحصص الخاصة والمتابعة الدورية / For Private Tutoring &amp; Follow-up: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3931920" cy="100584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EC4B6"/>
                </a:solidFill>
              </a:defRPr>
            </a:pPr>
            <a:r>
              <a:t>📱 WhatsApp &amp; Phone / واتساب وهاتف</a:t>
            </a:r>
          </a:p>
          <a:p>
            <a:pPr>
              <a:defRPr sz="1600" b="1">
                <a:solidFill>
                  <a:srgbClr val="F8F9FA"/>
                </a:solidFill>
              </a:defRPr>
            </a:pPr>
            <a:r>
              <a:t>+201159330109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3931920" cy="100584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CC9F0"/>
                </a:solidFill>
              </a:defRPr>
            </a:pPr>
            <a:r>
              <a:t>🌐 Facebook Profile / فيسبوك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Mohamed Nasser Badawy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61969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9FA"/>
                </a:solidFill>
              </a:defRPr>
            </a:pPr>
            <a:r>
              <a:t>MR. Mohamed Nasser Badawy  •  مستر محمد ناصر بدوي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English Language Teacher | 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