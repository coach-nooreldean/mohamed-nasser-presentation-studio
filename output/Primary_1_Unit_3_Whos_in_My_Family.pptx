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960120"/>
            <a:ext cx="4023360" cy="4937760"/>
          </a:xfrm>
          <a:prstGeom prst="roundRect">
            <a:avLst/>
          </a:prstGeom>
          <a:solidFill>
            <a:srgbClr val="131D31"/>
          </a:solidFill>
          <a:ln w="2286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05840"/>
            <a:ext cx="6309360" cy="402336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✦  دورة اللغة الإنجليزية المتخصصة • شروحات تفاعلية واحترافية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630936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cs typeface="Segoe UI"/>
              </a:rPr>
              <a:t>Unit 3: Who's in My Family?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8BDF8"/>
                </a:solidFill>
                <a:latin typeface="Segoe UI"/>
                <a:cs typeface="Segoe UI"/>
              </a:rPr>
              <a:t>Primary 1 • First Term • English Language Masterclass | Mr. Mohamed Nasser Badawy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77639"/>
            <a:ext cx="6309360" cy="1920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 rtl="1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المُحاضر والمعلم المعتمد</a:t>
            </a:r>
          </a:p>
          <a:p>
            <a:pPr algn="r" rtl="1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 rtl="1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Dubai"/>
              </a:rPr>
              <a:t>✦  محاور الدرس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Dubai"/>
              </a:rPr>
              <a:t>خريطة الدرس والمحاور الرئيسية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Meet My Family &amp; Sara's Story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Father, mother, parents, brother, sister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Grandfather &amp; grandmother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Question: "Who's this?"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Daily conversational phrases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Asking &amp; answering about siblings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Phonics Adventure: Letters (Nn) &amp; (Pp)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Letter Nn (/n/): nose, nurse, net, neck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Letter Pp (/p/): pizza, pencil, panda, parrot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011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4. Numbers (1 to 5) &amp; Grammar Rule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Singular "There is 1..." vs Plural "There are 4..."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Counting books, flowers, apples &amp; values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  <p:bldGraphic spid="12" grpId="0" build="asOn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Meet My Family: Who's in My Family?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glish_speaking_convers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/ˈfæm.əl.i/ • Family Members • أفراد العائلة الكريمة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Family is where our story begins! In Unit 3, we learn the names of our dear family members and how to introduce them with pride, love, and clear English pronunciation.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Parents (الوالدان): Father (أب) + Mother (أم) together are my parents.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Siblings (الإخوة): Brother (أخ) and Sister (أخت) — 'I have 1 brother and 2 sisters!'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Grandparents (الأجداد): Grandfather (جد) and Grandmother (جدة) who share wisdom and warmth.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Maya: “Who is this?” ➔ Sara: “This is my father. And this is my mother. They are my parents!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Language Function: Asking "Who's this?"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glish_speaking_convers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/huːz ðɪs/ • Daily Question &amp; Answer • السؤال والتعريف بالأشخاص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Whenever you look at a photograph or introduce family members to friends, ask politely: 'Who's this?' and answer: 'This is my...'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Question Pattern: “Who's this?” (Who's is the short form of Who is).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Answer Pattern: “This is my brother.” / “This is my grandmother.”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Asking About Siblings: “Do you have any brothers?” ➔ “Yes! I have 1 brother.”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Who's this? ➔ This is my grandfather. He loves reading books to us!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Lesson 2: Phonics Fun with Letter (Nn)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glish_grammar_ru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Letter Nn • Sound: /n/ • Uppercase 'N' &amp; Lowercase 'n'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Letter (Nn) makes the smooth nasal sound /n/! Touch the tip of your tongue gently behind your upper teeth and let the air resonate cleanly through your nose.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Nose /nəʊz/: Point to your nose with your finger! (أنف)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Nurse /nɜːs/: A helpful, caring nurse in the clinic (ممرضة)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Net /net/ &amp; Neck /nek/: Fishing net (شبكة) and neck (رقبة)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The caring nurse gently points to her nose with a bright smile!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Lesson 2: Phonics Fun with Letter (Pp)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glish_grammar_ru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Letter Pp • Sound: /p/ • Puffed-Air Sound • صوت الهواء الخفيف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Letter (Pp) makes the sound /p/! Hold your palm in front of your lips: feel the gentle puff of air released when you say 'pizza' or 'pencil'!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Pizza /ˈpiːt.sə/: A delicious, warm slice of cheese pizza (بيتزا)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Pencil /ˈpen.səl/: We write and color our English letters with it (قلم رصاص)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Panda /ˈpæn.də/: A cute, fluffy black-and-white panda bear (باندا)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I hold my pencil to draw a happy panda eating a slice of pizza!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مصفوفة المقارنة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Phonics Mastery Matrix: Letter (Nn) vs. Letter (Pp)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FFB703"/>
                          </a:solidFill>
                          <a:latin typeface="Segoe UI"/>
                          <a:cs typeface="Segoe UI"/>
                        </a:rPr>
                        <a:t>Phonics Dimension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Letter Nn (/n/)</a:t>
                      </a:r>
                    </a:p>
                  </a:txBody>
                  <a:tcPr anchor="ctr" marL="109728" marR="109728">
                    <a:solidFill>
                      <a:srgbClr val="101F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Letter Pp (/p/)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Sound Articulation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Smooth nasal sound /n/ (Air flows through nose)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Crisp puff of air /p/ (Air released from lips)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Primary 1 Vocabulary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Nose, Nurse, Net, Neck, Nail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Pizza, Pencil, Panda, Parrot, Potato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How to Trace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Straight line down, slant down, straight up (N)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Straight line down, round top loop on the right (P)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Classroom Example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“The nurse touches her nose.”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“I write with my pencil and eat pizza.”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Listening Discrimination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Starts with /n/ ➔ Letter 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Starts with /p/ ➔ Letter P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Lesson 3: Numbers 1 to 5 &amp; Counting Fun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ent_perf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🗣  Numbers 1 – 5 • [ 1 • 2 • 3 • 4 • 5 ] • الأرقام والعد الجميل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Numbers help us count objects in our world! Let's count from 1 to 5 with Omar and Aly in the classroom and the garden.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1 (One): There is 1 sun in the sky • I have 1 apple.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2 (Two): I have 2 sisters • Look at 2 yellow pencils.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3 (Three): There are 3 books on the shelf.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Omar: “How many books do you have?” ➔ Aly: “Let's see... 1, 2, 3. There are 3 books!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مصفوفة المقارنة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Grammar Rule: Singular "There is 1..." vs. Plural "There are 2, 3, 4, 5..."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FFB703"/>
                          </a:solidFill>
                          <a:latin typeface="Segoe UI"/>
                          <a:cs typeface="Segoe UI"/>
                        </a:rPr>
                        <a:t>Grammar Rule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Singular (1 Item) • There IS</a:t>
                      </a:r>
                    </a:p>
                  </a:txBody>
                  <a:tcPr anchor="ctr" marL="109728" marR="109728">
                    <a:solidFill>
                      <a:srgbClr val="101F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Plural (2+ Items) • There ARE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Quantity / Count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Exactly 1 item (مفرد واحد فقط)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2, 3, 4, 5 or more items (جمع)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Sentence Pattern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There is 1 + singular noun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There are + number + plural noun (-s)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Classroom Objects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There is 1 bag on the desk.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There are 3 pencils in the pencil case.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Nature &amp; Animals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There is 1 sun • There is 1 butterfly.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There are 4 flowers • I see 5 birds.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Having &amp; Sharing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I have 1 brother • I have 1 apple.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I have 2 sisters • We have 5 apples.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خطوات التطبيق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Classroom Activity &amp; Values: Count, Match &amp; Share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2407843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01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Family Detective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Look at the picture: “Who's this?” Choose: (father - mother) / (sister - brother) and say “This is my...”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This is my mother!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2011680"/>
            <a:ext cx="2407843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Phonics Sound Hunt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Listen carefully: Does 'Nose' start with N or P? ➔ Letter Nn! Does 'Pencil' start with N or P? ➔ Letter Pp!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Circle Nn or 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2011680"/>
            <a:ext cx="2407843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Count the Objects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Count how many pencils: “There are 2 pencils.” Count how many stars: “There are 5 bright stars!”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Count: 1, 2, 3, 4,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011" y="2011680"/>
            <a:ext cx="2407843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04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4. Value of Sharing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Aly: “I have 5 apples. Do you want one?” ➔ Omar: “Yes, please! Thank you!” Kindness and sharing make us happy.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Polite &amp; Generous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  <p:bldGraphic spid="12" grpId="0" build="asOne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31920" y="411480"/>
            <a:ext cx="4327855" cy="347472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Dubai"/>
              </a:rPr>
              <a:t>🌟  بالتوفيق والنجاح الدائم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  <a:cs typeface="Dubai"/>
              </a:rPr>
              <a:t>مع تمنياتي لكم بالتفوق والنجاح المستمر دائمًا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08760"/>
            <a:ext cx="9997135" cy="1280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B703"/>
                </a:solidFill>
                <a:latin typeface="Segoe UI"/>
                <a:cs typeface="Segoe UI"/>
              </a:rPr>
              <a:t>“Continuous effort and daily practice are the keys to true English fluency.”</a:t>
            </a:r>
          </a:p>
          <a:p>
            <a:pPr algn="ctr" rtl="1">
              <a:spcAft>
                <a:spcPts val="400"/>
              </a:spcAft>
            </a:pPr>
            <a:r>
              <a:rPr sz="1300" b="0" i="1">
                <a:solidFill>
                  <a:srgbClr val="38BDF8"/>
                </a:solidFill>
                <a:latin typeface="Segoe UI"/>
                <a:cs typeface="Dubai"/>
              </a:rPr>
              <a:t>«التعلم والممارسة اليومية المستمرة هما مفتاح طلاقة التحدث بالإنجليزية»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📱 واتساب الحصص والمتابعة المباشرة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+201159330109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للتواصل المباشر وحجز الدروس والمراجعات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🌐 الصفحة الرسمية للمتابعة</a:t>
            </a:r>
          </a:p>
          <a:p>
            <a:pPr algn="ctr" rtl="1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تابع أحدث الشروحات والتدريبات اليومية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09160"/>
            <a:ext cx="9997135" cy="146304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/>
          <a:lstStyle/>
          <a:p>
            <a:pPr algn="ctr" rtl="1">
              <a:spcAft>
                <a:spcPts val="600"/>
              </a:spcAft>
            </a:pPr>
            <a:r>
              <a:rPr sz="2200" b="1" i="0">
                <a:solidFill>
                  <a:srgbClr val="FFB703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