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0" y="-1645920"/>
            <a:ext cx="5486400" cy="4114800"/>
          </a:xfrm>
          <a:prstGeom prst="ellipse">
            <a:avLst/>
          </a:prstGeom>
          <a:solidFill>
            <a:srgbClr val="10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371600" y="4572000"/>
            <a:ext cx="4572000" cy="3657600"/>
          </a:xfrm>
          <a:prstGeom prst="ellipse">
            <a:avLst/>
          </a:prstGeom>
          <a:solidFill>
            <a:srgbClr val="0D1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960120"/>
            <a:ext cx="4023360" cy="4937760"/>
          </a:xfrm>
          <a:prstGeom prst="roundRect">
            <a:avLst/>
          </a:prstGeom>
          <a:solidFill>
            <a:srgbClr val="131D31"/>
          </a:solidFill>
          <a:ln w="22860">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eacher_avatar_card.png"/>
          <p:cNvPicPr>
            <a:picLocks noChangeAspect="1"/>
          </p:cNvPicPr>
          <p:nvPr/>
        </p:nvPicPr>
        <p:blipFill>
          <a:blip r:embed="rId2"/>
          <a:stretch>
            <a:fillRect/>
          </a:stretch>
        </p:blipFill>
        <p:spPr>
          <a:xfrm>
            <a:off x="822960" y="1005840"/>
            <a:ext cx="3931920" cy="4846320"/>
          </a:xfrm>
          <a:prstGeom prst="rect">
            <a:avLst/>
          </a:prstGeom>
        </p:spPr>
      </p:pic>
      <p:sp>
        <p:nvSpPr>
          <p:cNvPr id="7" name="Rounded Rectangle 6"/>
          <p:cNvSpPr/>
          <p:nvPr/>
        </p:nvSpPr>
        <p:spPr>
          <a:xfrm>
            <a:off x="5120640" y="1005840"/>
            <a:ext cx="6309360" cy="402336"/>
          </a:xfrm>
          <a:prstGeom prst="roundRect">
            <a:avLst/>
          </a:prstGeom>
          <a:solidFill>
            <a:srgbClr val="1A263E"/>
          </a:solidFill>
          <a:ln w="15240">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spcAft>
                <a:spcPts val="400"/>
              </a:spcAft>
            </a:pPr>
            <a:r>
              <a:rPr sz="1100" b="1" i="0">
                <a:solidFill>
                  <a:srgbClr val="FFB703"/>
                </a:solidFill>
                <a:latin typeface="Segoe UI"/>
                <a:cs typeface="Segoe UI"/>
              </a:rPr>
              <a:t>✦  TAJWEED &amp; QURANIC ARABIC MASTERCLASS • NON-NATIVE SPEAKERS</a:t>
            </a:r>
          </a:p>
        </p:txBody>
      </p:sp>
      <p:sp>
        <p:nvSpPr>
          <p:cNvPr id="8" name="TextBox 7"/>
          <p:cNvSpPr txBox="1"/>
          <p:nvPr/>
        </p:nvSpPr>
        <p:spPr>
          <a:xfrm>
            <a:off x="5120640" y="1600200"/>
            <a:ext cx="6309360" cy="2103120"/>
          </a:xfrm>
          <a:prstGeom prst="rect">
            <a:avLst/>
          </a:prstGeom>
          <a:noFill/>
        </p:spPr>
        <p:txBody>
          <a:bodyPr wrap="square" lIns="45720">
            <a:spAutoFit/>
          </a:bodyPr>
          <a:lstStyle/>
          <a:p>
            <a:pPr algn="l">
              <a:spcAft>
                <a:spcPts val="600"/>
              </a:spcAft>
            </a:pPr>
            <a:r>
              <a:rPr sz="3400" b="1" i="0">
                <a:solidFill>
                  <a:srgbClr val="FFFFFF"/>
                </a:solidFill>
                <a:latin typeface="Segoe UI"/>
                <a:cs typeface="Segoe UI"/>
              </a:rPr>
              <a:t>The rule of Merging (Idgham)</a:t>
            </a:r>
          </a:p>
          <a:p>
            <a:pPr algn="l">
              <a:spcAft>
                <a:spcPts val="400"/>
              </a:spcAft>
            </a:pPr>
            <a:r>
              <a:rPr sz="1600" b="0" i="0">
                <a:solidFill>
                  <a:srgbClr val="38BDF8"/>
                </a:solidFill>
                <a:latin typeface="Segoe UI"/>
                <a:cs typeface="Segoe UI"/>
              </a:rPr>
              <a:t>Tajweed Masterclass: Rules of Noon Sakinah &amp; Tanween for Non-Native Speakers</a:t>
            </a:r>
          </a:p>
        </p:txBody>
      </p:sp>
      <p:sp>
        <p:nvSpPr>
          <p:cNvPr id="9" name="Rounded Rectangle 8"/>
          <p:cNvSpPr/>
          <p:nvPr/>
        </p:nvSpPr>
        <p:spPr>
          <a:xfrm>
            <a:off x="5120640" y="3977639"/>
            <a:ext cx="6309360" cy="1920240"/>
          </a:xfrm>
          <a:prstGeom prst="roundRect">
            <a:avLst/>
          </a:prstGeom>
          <a:solidFill>
            <a:srgbClr val="131D31"/>
          </a:solidFill>
          <a:ln w="19050">
            <a:solidFill>
              <a:srgbClr val="2A3F5F"/>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l">
              <a:spcAft>
                <a:spcPts val="400"/>
              </a:spcAft>
            </a:pPr>
            <a:r>
              <a:rPr sz="1100" b="1" i="0">
                <a:solidFill>
                  <a:srgbClr val="FFB703"/>
                </a:solidFill>
                <a:latin typeface="Segoe UI"/>
                <a:cs typeface="Segoe UI"/>
              </a:rPr>
              <a:t>INSTRUCTOR &amp; PEDAGOGICAL LEAD</a:t>
            </a:r>
          </a:p>
          <a:p>
            <a:pPr algn="l">
              <a:spcAft>
                <a:spcPts val="400"/>
              </a:spcAft>
            </a:pPr>
            <a:r>
              <a:rPr sz="2000" b="1" i="0">
                <a:solidFill>
                  <a:srgbClr val="FFFFFF"/>
                </a:solidFill>
                <a:latin typeface="Segoe UI"/>
                <a:cs typeface="Segoe UI"/>
              </a:rPr>
              <a:t>MR. Mohamed Nasser Badawy</a:t>
            </a:r>
          </a:p>
          <a:p>
            <a:pPr algn="l">
              <a:spcAft>
                <a:spcPts val="400"/>
              </a:spcAft>
            </a:pPr>
            <a:r>
              <a:rPr sz="1300" b="0" i="0">
                <a:solidFill>
                  <a:srgbClr val="CBD5E1"/>
                </a:solidFill>
                <a:latin typeface="Segoe UI"/>
                <a:cs typeface="Segoe UI"/>
              </a:rPr>
              <a:t>Quran, Tajweed &amp; Arabic Instructor for Non-Native Speakers</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0" y="-1645920"/>
            <a:ext cx="5486400" cy="4114800"/>
          </a:xfrm>
          <a:prstGeom prst="ellipse">
            <a:avLst/>
          </a:prstGeom>
          <a:solidFill>
            <a:srgbClr val="10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371600" y="4572000"/>
            <a:ext cx="4572000" cy="3657600"/>
          </a:xfrm>
          <a:prstGeom prst="ellipse">
            <a:avLst/>
          </a:prstGeom>
          <a:solidFill>
            <a:srgbClr val="0D1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347472"/>
            <a:ext cx="3108960" cy="347472"/>
          </a:xfrm>
          <a:prstGeom prst="roundRect">
            <a:avLst/>
          </a:prstGeom>
          <a:solidFill>
            <a:srgbClr val="1A263E"/>
          </a:solidFill>
          <a:ln w="17780">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400"/>
              </a:spcAft>
            </a:pPr>
            <a:r>
              <a:rPr sz="1000" b="1" i="0">
                <a:solidFill>
                  <a:srgbClr val="FFB703"/>
                </a:solidFill>
                <a:latin typeface="Segoe UI"/>
                <a:cs typeface="Segoe UI"/>
              </a:rPr>
              <a:t>✦  LESSON ROADMAP</a:t>
            </a:r>
          </a:p>
        </p:txBody>
      </p:sp>
      <p:sp>
        <p:nvSpPr>
          <p:cNvPr id="6" name="TextBox 5"/>
          <p:cNvSpPr txBox="1"/>
          <p:nvPr/>
        </p:nvSpPr>
        <p:spPr>
          <a:xfrm>
            <a:off x="731520" y="749808"/>
            <a:ext cx="10728655" cy="777240"/>
          </a:xfrm>
          <a:prstGeom prst="rect">
            <a:avLst/>
          </a:prstGeom>
          <a:noFill/>
        </p:spPr>
        <p:txBody>
          <a:bodyPr wrap="square" lIns="45720">
            <a:spAutoFit/>
          </a:bodyPr>
          <a:lstStyle/>
          <a:p>
            <a:pPr algn="l">
              <a:spcAft>
                <a:spcPts val="400"/>
              </a:spcAft>
            </a:pPr>
            <a:r>
              <a:rPr sz="2600" b="1" i="0">
                <a:solidFill>
                  <a:srgbClr val="FFFFFF"/>
                </a:solidFill>
                <a:latin typeface="Segoe UI"/>
                <a:cs typeface="Segoe UI"/>
              </a:rPr>
              <a:t>Lesson Roadmap &amp; Core Objectives</a:t>
            </a:r>
          </a:p>
        </p:txBody>
      </p:sp>
      <p:sp>
        <p:nvSpPr>
          <p:cNvPr id="7" name="Rectangle 6"/>
          <p:cNvSpPr/>
          <p:nvPr/>
        </p:nvSpPr>
        <p:spPr>
          <a:xfrm>
            <a:off x="731520" y="1508760"/>
            <a:ext cx="10728655" cy="22860"/>
          </a:xfrm>
          <a:prstGeom prst="rect">
            <a:avLst/>
          </a:prstGeom>
          <a:solidFill>
            <a:srgbClr val="2A3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499616"/>
            <a:ext cx="2011680" cy="36576"/>
          </a:xfrm>
          <a:prstGeom prst="rect">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828800"/>
            <a:ext cx="2453563" cy="4389120"/>
          </a:xfrm>
          <a:prstGeom prst="roundRect">
            <a:avLst/>
          </a:prstGeom>
          <a:solidFill>
            <a:srgbClr val="131D31"/>
          </a:solidFill>
          <a:ln w="19050">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l">
              <a:spcAft>
                <a:spcPts val="600"/>
              </a:spcAft>
            </a:pPr>
            <a:r>
              <a:rPr sz="3000" b="1" i="0">
                <a:solidFill>
                  <a:srgbClr val="FFB703"/>
                </a:solidFill>
                <a:latin typeface="Segoe UI"/>
                <a:cs typeface="Segoe UI"/>
              </a:rPr>
              <a:t>01</a:t>
            </a:r>
          </a:p>
          <a:p>
            <a:pPr algn="l">
              <a:spcAft>
                <a:spcPts val="800"/>
              </a:spcAft>
            </a:pPr>
            <a:r>
              <a:rPr sz="1600" b="1" i="0">
                <a:solidFill>
                  <a:srgbClr val="FFFFFF"/>
                </a:solidFill>
                <a:latin typeface="Segoe UI"/>
                <a:cs typeface="Segoe UI"/>
              </a:rPr>
              <a:t>1. What is Idgham?</a:t>
            </a:r>
          </a:p>
          <a:p>
            <a:pPr algn="l">
              <a:spcAft>
                <a:spcPts val="400"/>
              </a:spcAft>
            </a:pPr>
            <a:r>
              <a:rPr sz="1300" b="0" i="0">
                <a:solidFill>
                  <a:srgbClr val="CBD5E1"/>
                </a:solidFill>
                <a:latin typeface="Segoe UI"/>
                <a:cs typeface="Segoe UI"/>
              </a:rPr>
              <a:t>•  Linguistic &amp; Tajweed definitions</a:t>
            </a:r>
          </a:p>
          <a:p>
            <a:pPr algn="l">
              <a:spcAft>
                <a:spcPts val="400"/>
              </a:spcAft>
            </a:pPr>
            <a:r>
              <a:rPr sz="1300" b="0" i="0">
                <a:solidFill>
                  <a:srgbClr val="CBD5E1"/>
                </a:solidFill>
                <a:latin typeface="Segoe UI"/>
                <a:cs typeface="Segoe UI"/>
              </a:rPr>
              <a:t>•  Assimilation into doubled letter</a:t>
            </a:r>
          </a:p>
        </p:txBody>
      </p:sp>
      <p:sp>
        <p:nvSpPr>
          <p:cNvPr id="10" name="Rounded Rectangle 9"/>
          <p:cNvSpPr/>
          <p:nvPr/>
        </p:nvSpPr>
        <p:spPr>
          <a:xfrm>
            <a:off x="3413683" y="1828800"/>
            <a:ext cx="2453563" cy="4389120"/>
          </a:xfrm>
          <a:prstGeom prst="roundRect">
            <a:avLst/>
          </a:prstGeom>
          <a:solidFill>
            <a:srgbClr val="131D31"/>
          </a:solidFill>
          <a:ln w="19050">
            <a:solidFill>
              <a:srgbClr val="2A3F5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l">
              <a:spcAft>
                <a:spcPts val="600"/>
              </a:spcAft>
            </a:pPr>
            <a:r>
              <a:rPr sz="3000" b="1" i="0">
                <a:solidFill>
                  <a:srgbClr val="FFB703"/>
                </a:solidFill>
                <a:latin typeface="Segoe UI"/>
                <a:cs typeface="Segoe UI"/>
              </a:rPr>
              <a:t>02</a:t>
            </a:r>
          </a:p>
          <a:p>
            <a:pPr algn="l">
              <a:spcAft>
                <a:spcPts val="800"/>
              </a:spcAft>
            </a:pPr>
            <a:r>
              <a:rPr sz="1600" b="1" i="0">
                <a:solidFill>
                  <a:srgbClr val="FFFFFF"/>
                </a:solidFill>
                <a:latin typeface="Segoe UI"/>
                <a:cs typeface="Segoe UI"/>
              </a:rPr>
              <a:t>2. The 6 Letters of Yarmaloon</a:t>
            </a:r>
          </a:p>
          <a:p>
            <a:pPr algn="l">
              <a:spcAft>
                <a:spcPts val="400"/>
              </a:spcAft>
            </a:pPr>
            <a:r>
              <a:rPr sz="1300" b="0" i="0">
                <a:solidFill>
                  <a:srgbClr val="CBD5E1"/>
                </a:solidFill>
                <a:latin typeface="Segoe UI"/>
                <a:cs typeface="Segoe UI"/>
              </a:rPr>
              <a:t>•  The mnemonic « يرملون »</a:t>
            </a:r>
          </a:p>
          <a:p>
            <a:pPr algn="l">
              <a:spcAft>
                <a:spcPts val="400"/>
              </a:spcAft>
            </a:pPr>
            <a:r>
              <a:rPr sz="1300" b="0" i="0">
                <a:solidFill>
                  <a:srgbClr val="CBD5E1"/>
                </a:solidFill>
                <a:latin typeface="Segoe UI"/>
                <a:cs typeface="Segoe UI"/>
              </a:rPr>
              <a:t>•  Classification into 2 groups</a:t>
            </a:r>
          </a:p>
        </p:txBody>
      </p:sp>
      <p:sp>
        <p:nvSpPr>
          <p:cNvPr id="11" name="Rounded Rectangle 10"/>
          <p:cNvSpPr/>
          <p:nvPr/>
        </p:nvSpPr>
        <p:spPr>
          <a:xfrm>
            <a:off x="6095847" y="1828800"/>
            <a:ext cx="2453563" cy="4389120"/>
          </a:xfrm>
          <a:prstGeom prst="roundRect">
            <a:avLst/>
          </a:prstGeom>
          <a:solidFill>
            <a:srgbClr val="131D31"/>
          </a:solidFill>
          <a:ln w="19050">
            <a:solidFill>
              <a:srgbClr val="2A3F5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l">
              <a:spcAft>
                <a:spcPts val="600"/>
              </a:spcAft>
            </a:pPr>
            <a:r>
              <a:rPr sz="3000" b="1" i="0">
                <a:solidFill>
                  <a:srgbClr val="FFB703"/>
                </a:solidFill>
                <a:latin typeface="Segoe UI"/>
                <a:cs typeface="Segoe UI"/>
              </a:rPr>
              <a:t>03</a:t>
            </a:r>
          </a:p>
          <a:p>
            <a:pPr algn="l">
              <a:spcAft>
                <a:spcPts val="800"/>
              </a:spcAft>
            </a:pPr>
            <a:r>
              <a:rPr sz="1600" b="1" i="0">
                <a:solidFill>
                  <a:srgbClr val="FFFFFF"/>
                </a:solidFill>
                <a:latin typeface="Segoe UI"/>
                <a:cs typeface="Segoe UI"/>
              </a:rPr>
              <a:t>3. With vs. Without Ghunnah</a:t>
            </a:r>
          </a:p>
          <a:p>
            <a:pPr algn="l">
              <a:spcAft>
                <a:spcPts val="400"/>
              </a:spcAft>
            </a:pPr>
            <a:r>
              <a:rPr sz="1300" b="0" i="0">
                <a:solidFill>
                  <a:srgbClr val="CBD5E1"/>
                </a:solidFill>
                <a:latin typeface="Segoe UI"/>
                <a:cs typeface="Segoe UI"/>
              </a:rPr>
              <a:t>•  Yanmoo (4 letters) with 2 counts</a:t>
            </a:r>
          </a:p>
          <a:p>
            <a:pPr algn="l">
              <a:spcAft>
                <a:spcPts val="400"/>
              </a:spcAft>
            </a:pPr>
            <a:r>
              <a:rPr sz="1300" b="0" i="0">
                <a:solidFill>
                  <a:srgbClr val="CBD5E1"/>
                </a:solidFill>
                <a:latin typeface="Segoe UI"/>
                <a:cs typeface="Segoe UI"/>
              </a:rPr>
              <a:t>•  Ra &amp; Lam (2 letters) rapid merging</a:t>
            </a:r>
          </a:p>
        </p:txBody>
      </p:sp>
      <p:sp>
        <p:nvSpPr>
          <p:cNvPr id="12" name="Rounded Rectangle 11"/>
          <p:cNvSpPr/>
          <p:nvPr/>
        </p:nvSpPr>
        <p:spPr>
          <a:xfrm>
            <a:off x="8778011" y="1828800"/>
            <a:ext cx="2453563" cy="4389120"/>
          </a:xfrm>
          <a:prstGeom prst="roundRect">
            <a:avLst/>
          </a:prstGeom>
          <a:solidFill>
            <a:srgbClr val="131D31"/>
          </a:solidFill>
          <a:ln w="19050">
            <a:solidFill>
              <a:srgbClr val="2A3F5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l">
              <a:spcAft>
                <a:spcPts val="600"/>
              </a:spcAft>
            </a:pPr>
            <a:r>
              <a:rPr sz="3000" b="1" i="0">
                <a:solidFill>
                  <a:srgbClr val="FFB703"/>
                </a:solidFill>
                <a:latin typeface="Segoe UI"/>
                <a:cs typeface="Segoe UI"/>
              </a:rPr>
              <a:t>04</a:t>
            </a:r>
          </a:p>
          <a:p>
            <a:pPr algn="l">
              <a:spcAft>
                <a:spcPts val="800"/>
              </a:spcAft>
            </a:pPr>
            <a:r>
              <a:rPr sz="1600" b="1" i="0">
                <a:solidFill>
                  <a:srgbClr val="FFFFFF"/>
                </a:solidFill>
                <a:latin typeface="Segoe UI"/>
                <a:cs typeface="Segoe UI"/>
              </a:rPr>
              <a:t>4. The Golden Exception</a:t>
            </a:r>
          </a:p>
          <a:p>
            <a:pPr algn="l">
              <a:spcAft>
                <a:spcPts val="400"/>
              </a:spcAft>
            </a:pPr>
            <a:r>
              <a:rPr sz="1300" b="0" i="0">
                <a:solidFill>
                  <a:srgbClr val="CBD5E1"/>
                </a:solidFill>
                <a:latin typeface="Segoe UI"/>
                <a:cs typeface="Segoe UI"/>
              </a:rPr>
              <a:t>•  Izhar Mutlaq in ONE word</a:t>
            </a:r>
          </a:p>
          <a:p>
            <a:pPr algn="l">
              <a:spcAft>
                <a:spcPts val="400"/>
              </a:spcAft>
            </a:pPr>
            <a:r>
              <a:rPr sz="1300" b="0" i="0">
                <a:solidFill>
                  <a:srgbClr val="CBD5E1"/>
                </a:solidFill>
                <a:latin typeface="Segoe UI"/>
                <a:cs typeface="Segoe UI"/>
              </a:rPr>
              <a:t>•  The 4 Quranic exceptions</a:t>
            </a:r>
          </a:p>
        </p:txBody>
      </p:sp>
    </p:spTree>
  </p:cSld>
  <p:clrMapOvr>
    <a:masterClrMapping/>
  </p:clrMapOvr>
  <p:transition spd="med">
    <p:fade/>
  </p:transition>
  <p:timing>
    <p:tnLst>
      <p:par>
        <p:cTn id="1" dur="indefinite" restart="always" nodeType="tmRoot">
          <p:childTnLst>
            <p:seq concurrent="1" nextAc="seek">
              <p:cTn id="2" dur="indefinite" nodeType="mainSeq">
                <p:childTnLst>
                  <p:par>
                    <p:cTn id="3" fill="hold">
                      <p:stCondLst>
                        <p:cond delay="0"/>
                      </p:stCondLst>
                      <p:childTnLst>
                        <p:par>
                          <p:cTn id="4" presetID="1" presetClass="entr" presetSubtype="0" fill="hold" nodeType="clickEffect">
                            <p:stCondLst>
                              <p:cond delay="0"/>
                            </p:stCondLst>
                            <p:childTnLst>
                              <p:set>
                                <p:cBhvr>
                                  <p:cTn id="5" dur="1" fill="hold"/>
                                  <p:tgtEl>
                                    <p:spTgt spid="9"/>
                                  </p:tgtEl>
                                  <p:attrNameLst>
                                    <p:attrName>style.visibility</p:attrName>
                                  </p:attrNameLst>
                                </p:cBhvr>
                                <p:to>
                                  <p:strVal val="visible"/>
                                </p:to>
                              </p:set>
                            </p:childTnLst>
                          </p:cTn>
                        </p:par>
                      </p:childTnLst>
                    </p:cTn>
                  </p:par>
                  <p:par>
                    <p:cTn id="6" fill="hold">
                      <p:stCondLst>
                        <p:cond delay="0"/>
                      </p:stCondLst>
                      <p:childTnLst>
                        <p:par>
                          <p:cTn id="7" presetID="1" presetClass="entr" presetSubtype="0" fill="hold" nodeType="clickEffect">
                            <p:stCondLst>
                              <p:cond delay="0"/>
                            </p:stCondLst>
                            <p:childTnLst>
                              <p:set>
                                <p:cBhvr>
                                  <p:cTn id="8" dur="1" fill="hold"/>
                                  <p:tgtEl>
                                    <p:spTgt spid="10"/>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nodeType="clickEffect">
                            <p:stCondLst>
                              <p:cond delay="0"/>
                            </p:stCondLst>
                            <p:childTnLst>
                              <p:set>
                                <p:cBhvr>
                                  <p:cTn id="11" dur="1" fill="hold"/>
                                  <p:tgtEl>
                                    <p:spTgt spid="11"/>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nodeType="clickEffect">
                            <p:stCondLst>
                              <p:cond delay="0"/>
                            </p:stCondLst>
                            <p:childTnLst>
                              <p:set>
                                <p:cBhvr>
                                  <p:cTn id="14" dur="1" fill="hold"/>
                                  <p:tgtEl>
                                    <p:spTgt spid="12"/>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build="asOne"/>
      <p:bldGraphic spid="10" grpId="0" build="asOne"/>
      <p:bldGraphic spid="11" grpId="0" build="asOne"/>
      <p:bldGraphic spid="12" grpId="0" build="asOne"/>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0" y="-1645920"/>
            <a:ext cx="5486400" cy="4114800"/>
          </a:xfrm>
          <a:prstGeom prst="ellipse">
            <a:avLst/>
          </a:prstGeom>
          <a:solidFill>
            <a:srgbClr val="10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371600" y="4572000"/>
            <a:ext cx="4572000" cy="3657600"/>
          </a:xfrm>
          <a:prstGeom prst="ellipse">
            <a:avLst/>
          </a:prstGeom>
          <a:solidFill>
            <a:srgbClr val="0D1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48640"/>
            <a:ext cx="10728655" cy="777240"/>
          </a:xfrm>
          <a:prstGeom prst="rect">
            <a:avLst/>
          </a:prstGeom>
          <a:noFill/>
        </p:spPr>
        <p:txBody>
          <a:bodyPr wrap="square" lIns="45720">
            <a:spAutoFit/>
          </a:bodyPr>
          <a:lstStyle/>
          <a:p>
            <a:pPr algn="l">
              <a:spcAft>
                <a:spcPts val="400"/>
              </a:spcAft>
            </a:pPr>
            <a:r>
              <a:rPr sz="2600" b="1" i="0">
                <a:solidFill>
                  <a:srgbClr val="FFFFFF"/>
                </a:solidFill>
                <a:latin typeface="Segoe UI"/>
                <a:cs typeface="Segoe UI"/>
              </a:rPr>
              <a:t>الإدغام • What is Merging (Idgham)?</a:t>
            </a:r>
          </a:p>
        </p:txBody>
      </p:sp>
      <p:sp>
        <p:nvSpPr>
          <p:cNvPr id="6" name="Rectangle 5"/>
          <p:cNvSpPr/>
          <p:nvPr/>
        </p:nvSpPr>
        <p:spPr>
          <a:xfrm>
            <a:off x="731520" y="1508760"/>
            <a:ext cx="10728655" cy="22860"/>
          </a:xfrm>
          <a:prstGeom prst="rect">
            <a:avLst/>
          </a:prstGeom>
          <a:solidFill>
            <a:srgbClr val="2A3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499616"/>
            <a:ext cx="2011680" cy="36576"/>
          </a:xfrm>
          <a:prstGeom prst="rect">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828800"/>
            <a:ext cx="4389120" cy="4480560"/>
          </a:xfrm>
          <a:prstGeom prst="roundRect">
            <a:avLst/>
          </a:prstGeom>
          <a:solidFill>
            <a:srgbClr val="131D31"/>
          </a:solidFill>
          <a:ln w="19050">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dgham_ghunnah.jpg"/>
          <p:cNvPicPr>
            <a:picLocks noChangeAspect="1"/>
          </p:cNvPicPr>
          <p:nvPr/>
        </p:nvPicPr>
        <p:blipFill>
          <a:blip r:embed="rId2"/>
          <a:stretch>
            <a:fillRect/>
          </a:stretch>
        </p:blipFill>
        <p:spPr>
          <a:xfrm>
            <a:off x="914400" y="1965960"/>
            <a:ext cx="4023360" cy="4160520"/>
          </a:xfrm>
          <a:prstGeom prst="rect">
            <a:avLst/>
          </a:prstGeom>
        </p:spPr>
      </p:pic>
      <p:sp>
        <p:nvSpPr>
          <p:cNvPr id="10" name="Rounded Rectangle 9"/>
          <p:cNvSpPr/>
          <p:nvPr/>
        </p:nvSpPr>
        <p:spPr>
          <a:xfrm>
            <a:off x="5394960" y="1783080"/>
            <a:ext cx="3291840" cy="329184"/>
          </a:xfrm>
          <a:prstGeom prst="roundRect">
            <a:avLst/>
          </a:prstGeom>
          <a:solidFill>
            <a:srgbClr val="1A263E"/>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l">
              <a:spcAft>
                <a:spcPts val="400"/>
              </a:spcAft>
            </a:pPr>
            <a:r>
              <a:rPr sz="1100" b="1" i="0">
                <a:solidFill>
                  <a:srgbClr val="38BDF8"/>
                </a:solidFill>
                <a:latin typeface="Segoe UI"/>
                <a:cs typeface="Segoe UI"/>
              </a:rPr>
              <a:t>🗣  al-Idghām • /ɪd.ˈɣɑːm/ • Inserting One Thing into Another</a:t>
            </a:r>
          </a:p>
        </p:txBody>
      </p:sp>
      <p:sp>
        <p:nvSpPr>
          <p:cNvPr id="11" name="Rounded Rectangle 10"/>
          <p:cNvSpPr/>
          <p:nvPr/>
        </p:nvSpPr>
        <p:spPr>
          <a:xfrm>
            <a:off x="5394960" y="2212848"/>
            <a:ext cx="6065215" cy="1280160"/>
          </a:xfrm>
          <a:prstGeom prst="roundRect">
            <a:avLst/>
          </a:prstGeom>
          <a:solidFill>
            <a:srgbClr val="131D31"/>
          </a:solidFill>
          <a:ln w="19050">
            <a:solidFill>
              <a:srgbClr val="2A3F5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100" b="1" i="0">
                <a:solidFill>
                  <a:srgbClr val="FFB703"/>
                </a:solidFill>
                <a:latin typeface="Segoe UI"/>
                <a:cs typeface="Segoe UI"/>
              </a:rPr>
              <a:t>Meaning &amp; Core Rule:</a:t>
            </a:r>
          </a:p>
          <a:p>
            <a:pPr algn="l">
              <a:spcAft>
                <a:spcPts val="400"/>
              </a:spcAft>
            </a:pPr>
            <a:r>
              <a:rPr sz="1400" b="0" i="0">
                <a:solidFill>
                  <a:srgbClr val="F1F5F9"/>
                </a:solidFill>
                <a:latin typeface="Segoe UI"/>
                <a:cs typeface="Segoe UI"/>
              </a:rPr>
              <a:t>Linguistically, Idgham means 'to insert something into something else to become one thing'. In Tajweed, it is merging an unvoweled Noon (Noon Sakinah نْ) or Tanween into the following letter so they become ONE doubled letter (حرف مشدد).</a:t>
            </a:r>
          </a:p>
        </p:txBody>
      </p:sp>
      <p:sp>
        <p:nvSpPr>
          <p:cNvPr id="12" name="Rounded Rectangle 11"/>
          <p:cNvSpPr/>
          <p:nvPr/>
        </p:nvSpPr>
        <p:spPr>
          <a:xfrm>
            <a:off x="5394960" y="3611880"/>
            <a:ext cx="6065215" cy="1417320"/>
          </a:xfrm>
          <a:prstGeom prst="roundRect">
            <a:avLst/>
          </a:prstGeom>
          <a:solidFill>
            <a:srgbClr val="131D31"/>
          </a:solidFill>
          <a:ln w="15240">
            <a:solidFill>
              <a:srgbClr val="2A3F5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100" b="1" i="0">
                <a:solidFill>
                  <a:srgbClr val="38BDF8"/>
                </a:solidFill>
                <a:latin typeface="Segoe UI"/>
                <a:cs typeface="Segoe UI"/>
              </a:rPr>
              <a:t>Key Breakdown &amp; Usage Notes:</a:t>
            </a:r>
          </a:p>
          <a:p>
            <a:pPr algn="l">
              <a:spcAft>
                <a:spcPts val="200"/>
              </a:spcAft>
            </a:pPr>
            <a:r>
              <a:rPr sz="1300" b="0" i="0">
                <a:solidFill>
                  <a:srgbClr val="CBD5E1"/>
                </a:solidFill>
                <a:latin typeface="Segoe UI"/>
                <a:cs typeface="Segoe UI"/>
              </a:rPr>
              <a:t>✔  The unvoweled Noon sound enters completely or partially into the next letter.</a:t>
            </a:r>
          </a:p>
          <a:p>
            <a:pPr algn="l">
              <a:spcAft>
                <a:spcPts val="200"/>
              </a:spcAft>
            </a:pPr>
            <a:r>
              <a:rPr sz="1300" b="0" i="0">
                <a:solidFill>
                  <a:srgbClr val="CBD5E1"/>
                </a:solidFill>
                <a:latin typeface="Segoe UI"/>
                <a:cs typeface="Segoe UI"/>
              </a:rPr>
              <a:t>✔  The following letter is pronounced with a Shaddah (doubled stress).</a:t>
            </a:r>
          </a:p>
          <a:p>
            <a:pPr algn="l">
              <a:spcAft>
                <a:spcPts val="200"/>
              </a:spcAft>
            </a:pPr>
            <a:r>
              <a:rPr sz="1300" b="0" i="0">
                <a:solidFill>
                  <a:srgbClr val="CBD5E1"/>
                </a:solidFill>
                <a:latin typeface="Segoe UI"/>
                <a:cs typeface="Segoe UI"/>
              </a:rPr>
              <a:t>✔  Crucial requirement: The two letters must be in TWO separate words.</a:t>
            </a:r>
          </a:p>
        </p:txBody>
      </p:sp>
      <p:sp>
        <p:nvSpPr>
          <p:cNvPr id="13" name="Rounded Rectangle 12"/>
          <p:cNvSpPr/>
          <p:nvPr/>
        </p:nvSpPr>
        <p:spPr>
          <a:xfrm>
            <a:off x="5394960" y="5138928"/>
            <a:ext cx="6065215" cy="1170432"/>
          </a:xfrm>
          <a:prstGeom prst="roundRect">
            <a:avLst/>
          </a:prstGeom>
          <a:solidFill>
            <a:srgbClr val="101F3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l">
              <a:spcAft>
                <a:spcPts val="200"/>
              </a:spcAft>
            </a:pPr>
            <a:r>
              <a:rPr sz="1100" b="1" i="0">
                <a:solidFill>
                  <a:srgbClr val="10B981"/>
                </a:solidFill>
                <a:latin typeface="Segoe UI"/>
                <a:cs typeface="Segoe UI"/>
              </a:rPr>
              <a:t>💡 Practical Example:</a:t>
            </a:r>
          </a:p>
          <a:p>
            <a:pPr algn="l">
              <a:spcAft>
                <a:spcPts val="400"/>
              </a:spcAft>
            </a:pPr>
            <a:r>
              <a:rPr sz="1300" b="1" i="0">
                <a:solidFill>
                  <a:srgbClr val="FFFFFF"/>
                </a:solidFill>
                <a:latin typeface="Segoe UI"/>
                <a:cs typeface="Segoe UI"/>
              </a:rPr>
              <a:t>“ « مَن يَقُولُ » ➔ Recited as 'May-yaqool' (2 counts Ghunnah) ”</a:t>
            </a:r>
          </a:p>
        </p:txBody>
      </p:sp>
    </p:spTree>
  </p:cSld>
  <p:clrMapOvr>
    <a:masterClrMapping/>
  </p:clrMapOvr>
  <p:transition spd="med">
    <p:fade/>
  </p:transition>
  <p:timing>
    <p:tnLst>
      <p:par>
        <p:cTn id="1" dur="indefinite" restart="always" nodeType="tmRoot">
          <p:childTnLst>
            <p:seq concurrent="1" nextAc="seek">
              <p:cTn id="2" dur="indefinite" nodeType="mainSeq">
                <p:childTnLst>
                  <p:par>
                    <p:cTn id="3" fill="hold">
                      <p:stCondLst>
                        <p:cond delay="0"/>
                      </p:stCondLst>
                      <p:childTnLst>
                        <p:par>
                          <p:cTn id="4" presetID="1" presetClass="entr" presetSubtype="0" fill="hold" nodeType="clickEffect">
                            <p:stCondLst>
                              <p:cond delay="0"/>
                            </p:stCondLst>
                            <p:childTnLst>
                              <p:set>
                                <p:cBhvr>
                                  <p:cTn id="5" dur="1" fill="hold"/>
                                  <p:tgtEl>
                                    <p:spTgt spid="8"/>
                                  </p:tgtEl>
                                  <p:attrNameLst>
                                    <p:attrName>style.visibility</p:attrName>
                                  </p:attrNameLst>
                                </p:cBhvr>
                                <p:to>
                                  <p:strVal val="visible"/>
                                </p:to>
                              </p:set>
                            </p:childTnLst>
                          </p:cTn>
                        </p:par>
                      </p:childTnLst>
                    </p:cTn>
                  </p:par>
                  <p:par>
                    <p:cTn id="6" fill="hold">
                      <p:stCondLst>
                        <p:cond delay="0"/>
                      </p:stCondLst>
                      <p:childTnLst>
                        <p:par>
                          <p:cTn id="7" presetID="1" presetClass="entr" presetSubtype="0" fill="hold" nodeType="clickEffect">
                            <p:stCondLst>
                              <p:cond delay="0"/>
                            </p:stCondLst>
                            <p:childTnLst>
                              <p:set>
                                <p:cBhvr>
                                  <p:cTn id="8" dur="1" fill="hold"/>
                                  <p:tgtEl>
                                    <p:spTgt spid="11"/>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nodeType="clickEffect">
                            <p:stCondLst>
                              <p:cond delay="0"/>
                            </p:stCondLst>
                            <p:childTnLst>
                              <p:set>
                                <p:cBhvr>
                                  <p:cTn id="11" dur="1" fill="hold"/>
                                  <p:tgtEl>
                                    <p:spTgt spid="12"/>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nodeType="clickEffect">
                            <p:stCondLst>
                              <p:cond delay="0"/>
                            </p:stCondLst>
                            <p:childTnLst>
                              <p:set>
                                <p:cBhvr>
                                  <p:cTn id="14" dur="1" fill="hold"/>
                                  <p:tgtEl>
                                    <p:spTgt spid="13"/>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build="asOne"/>
      <p:bldGraphic spid="11" grpId="0" build="asOne"/>
      <p:bldGraphic spid="12" grpId="0" build="asOne"/>
      <p:bldGraphic spid="13" grpId="0" build="asOne"/>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0" y="-1645920"/>
            <a:ext cx="5486400" cy="4114800"/>
          </a:xfrm>
          <a:prstGeom prst="ellipse">
            <a:avLst/>
          </a:prstGeom>
          <a:solidFill>
            <a:srgbClr val="10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371600" y="4572000"/>
            <a:ext cx="4572000" cy="3657600"/>
          </a:xfrm>
          <a:prstGeom prst="ellipse">
            <a:avLst/>
          </a:prstGeom>
          <a:solidFill>
            <a:srgbClr val="0D1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48640"/>
            <a:ext cx="10728655" cy="777240"/>
          </a:xfrm>
          <a:prstGeom prst="rect">
            <a:avLst/>
          </a:prstGeom>
          <a:noFill/>
        </p:spPr>
        <p:txBody>
          <a:bodyPr wrap="square" lIns="45720">
            <a:spAutoFit/>
          </a:bodyPr>
          <a:lstStyle/>
          <a:p>
            <a:pPr algn="l">
              <a:spcAft>
                <a:spcPts val="400"/>
              </a:spcAft>
            </a:pPr>
            <a:r>
              <a:rPr sz="2600" b="1" i="0">
                <a:solidFill>
                  <a:srgbClr val="FFFFFF"/>
                </a:solidFill>
                <a:latin typeface="Segoe UI"/>
                <a:cs typeface="Segoe UI"/>
              </a:rPr>
              <a:t>حروف الإدغام • The 6 Letters of Yarmaloon</a:t>
            </a:r>
          </a:p>
        </p:txBody>
      </p:sp>
      <p:sp>
        <p:nvSpPr>
          <p:cNvPr id="6" name="Rectangle 5"/>
          <p:cNvSpPr/>
          <p:nvPr/>
        </p:nvSpPr>
        <p:spPr>
          <a:xfrm>
            <a:off x="731520" y="1508760"/>
            <a:ext cx="10728655" cy="22860"/>
          </a:xfrm>
          <a:prstGeom prst="rect">
            <a:avLst/>
          </a:prstGeom>
          <a:solidFill>
            <a:srgbClr val="2A3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499616"/>
            <a:ext cx="2011680" cy="36576"/>
          </a:xfrm>
          <a:prstGeom prst="rect">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828800"/>
            <a:ext cx="4389120" cy="4480560"/>
          </a:xfrm>
          <a:prstGeom prst="roundRect">
            <a:avLst/>
          </a:prstGeom>
          <a:solidFill>
            <a:srgbClr val="131D31"/>
          </a:solidFill>
          <a:ln w="19050">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dgham_ghunnah.jpg"/>
          <p:cNvPicPr>
            <a:picLocks noChangeAspect="1"/>
          </p:cNvPicPr>
          <p:nvPr/>
        </p:nvPicPr>
        <p:blipFill>
          <a:blip r:embed="rId2"/>
          <a:stretch>
            <a:fillRect/>
          </a:stretch>
        </p:blipFill>
        <p:spPr>
          <a:xfrm>
            <a:off x="914400" y="1965960"/>
            <a:ext cx="4023360" cy="4160520"/>
          </a:xfrm>
          <a:prstGeom prst="rect">
            <a:avLst/>
          </a:prstGeom>
        </p:spPr>
      </p:pic>
      <p:sp>
        <p:nvSpPr>
          <p:cNvPr id="10" name="Rounded Rectangle 9"/>
          <p:cNvSpPr/>
          <p:nvPr/>
        </p:nvSpPr>
        <p:spPr>
          <a:xfrm>
            <a:off x="5394960" y="1783080"/>
            <a:ext cx="3291840" cy="329184"/>
          </a:xfrm>
          <a:prstGeom prst="roundRect">
            <a:avLst/>
          </a:prstGeom>
          <a:solidFill>
            <a:srgbClr val="1A263E"/>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l">
              <a:spcAft>
                <a:spcPts val="400"/>
              </a:spcAft>
            </a:pPr>
            <a:r>
              <a:rPr sz="1100" b="1" i="0">
                <a:solidFill>
                  <a:srgbClr val="38BDF8"/>
                </a:solidFill>
                <a:latin typeface="Segoe UI"/>
                <a:cs typeface="Segoe UI"/>
              </a:rPr>
              <a:t>🗣  The 6 Letters • [ ي ، ر ، م ، ل ، و ، ن ] • Yarmaloon</a:t>
            </a:r>
          </a:p>
        </p:txBody>
      </p:sp>
      <p:sp>
        <p:nvSpPr>
          <p:cNvPr id="11" name="Rounded Rectangle 10"/>
          <p:cNvSpPr/>
          <p:nvPr/>
        </p:nvSpPr>
        <p:spPr>
          <a:xfrm>
            <a:off x="5394960" y="2212848"/>
            <a:ext cx="6065215" cy="1280160"/>
          </a:xfrm>
          <a:prstGeom prst="roundRect">
            <a:avLst/>
          </a:prstGeom>
          <a:solidFill>
            <a:srgbClr val="131D31"/>
          </a:solidFill>
          <a:ln w="19050">
            <a:solidFill>
              <a:srgbClr val="2A3F5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100" b="1" i="0">
                <a:solidFill>
                  <a:srgbClr val="FFB703"/>
                </a:solidFill>
                <a:latin typeface="Segoe UI"/>
                <a:cs typeface="Segoe UI"/>
              </a:rPr>
              <a:t>Meaning &amp; Core Rule:</a:t>
            </a:r>
          </a:p>
          <a:p>
            <a:pPr algn="l">
              <a:spcAft>
                <a:spcPts val="400"/>
              </a:spcAft>
            </a:pPr>
            <a:r>
              <a:rPr sz="1400" b="0" i="0">
                <a:solidFill>
                  <a:srgbClr val="F1F5F9"/>
                </a:solidFill>
                <a:latin typeface="Segoe UI"/>
                <a:cs typeface="Segoe UI"/>
              </a:rPr>
              <a:t>Whenever Noon Sakinah (نْ) or Tanween ( ً ٍ ٌ ) is followed by any of these 6 letters at the beginning of the next word, Idgham must take place. They are gathered in the mnemonic word: « يَرْمَلُون ».</a:t>
            </a:r>
          </a:p>
        </p:txBody>
      </p:sp>
      <p:sp>
        <p:nvSpPr>
          <p:cNvPr id="12" name="Rounded Rectangle 11"/>
          <p:cNvSpPr/>
          <p:nvPr/>
        </p:nvSpPr>
        <p:spPr>
          <a:xfrm>
            <a:off x="5394960" y="3611880"/>
            <a:ext cx="6065215" cy="1417320"/>
          </a:xfrm>
          <a:prstGeom prst="roundRect">
            <a:avLst/>
          </a:prstGeom>
          <a:solidFill>
            <a:srgbClr val="131D31"/>
          </a:solidFill>
          <a:ln w="15240">
            <a:solidFill>
              <a:srgbClr val="2A3F5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100" b="1" i="0">
                <a:solidFill>
                  <a:srgbClr val="38BDF8"/>
                </a:solidFill>
                <a:latin typeface="Segoe UI"/>
                <a:cs typeface="Segoe UI"/>
              </a:rPr>
              <a:t>Key Breakdown &amp; Usage Notes:</a:t>
            </a:r>
          </a:p>
          <a:p>
            <a:pPr algn="l">
              <a:spcAft>
                <a:spcPts val="200"/>
              </a:spcAft>
            </a:pPr>
            <a:r>
              <a:rPr sz="1300" b="0" i="0">
                <a:solidFill>
                  <a:srgbClr val="CBD5E1"/>
                </a:solidFill>
                <a:latin typeface="Segoe UI"/>
                <a:cs typeface="Segoe UI"/>
              </a:rPr>
              <a:t>✔  The 6 letters are memorized in the single Arabic word: « يَرْمَلُون ».</a:t>
            </a:r>
          </a:p>
          <a:p>
            <a:pPr algn="l">
              <a:spcAft>
                <a:spcPts val="200"/>
              </a:spcAft>
            </a:pPr>
            <a:r>
              <a:rPr sz="1300" b="0" i="0">
                <a:solidFill>
                  <a:srgbClr val="CBD5E1"/>
                </a:solidFill>
                <a:latin typeface="Segoe UI"/>
                <a:cs typeface="Segoe UI"/>
              </a:rPr>
              <a:t>✔  4 Letters merge WITH nasalization (Ghunnah): « يَنْمُو » (Yanmoo).</a:t>
            </a:r>
          </a:p>
          <a:p>
            <a:pPr algn="l">
              <a:spcAft>
                <a:spcPts val="200"/>
              </a:spcAft>
            </a:pPr>
            <a:r>
              <a:rPr sz="1300" b="0" i="0">
                <a:solidFill>
                  <a:srgbClr val="CBD5E1"/>
                </a:solidFill>
                <a:latin typeface="Segoe UI"/>
                <a:cs typeface="Segoe UI"/>
              </a:rPr>
              <a:t>✔  2 Letters merge WITHOUT nasalization (Ghunnah): [ ر ، ل ] (Ra and Lam).</a:t>
            </a:r>
          </a:p>
        </p:txBody>
      </p:sp>
      <p:sp>
        <p:nvSpPr>
          <p:cNvPr id="13" name="Rounded Rectangle 12"/>
          <p:cNvSpPr/>
          <p:nvPr/>
        </p:nvSpPr>
        <p:spPr>
          <a:xfrm>
            <a:off x="5394960" y="5138928"/>
            <a:ext cx="6065215" cy="1170432"/>
          </a:xfrm>
          <a:prstGeom prst="roundRect">
            <a:avLst/>
          </a:prstGeom>
          <a:solidFill>
            <a:srgbClr val="101F3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l">
              <a:spcAft>
                <a:spcPts val="200"/>
              </a:spcAft>
            </a:pPr>
            <a:r>
              <a:rPr sz="1100" b="1" i="0">
                <a:solidFill>
                  <a:srgbClr val="10B981"/>
                </a:solidFill>
                <a:latin typeface="Segoe UI"/>
                <a:cs typeface="Segoe UI"/>
              </a:rPr>
              <a:t>💡 Practical Example:</a:t>
            </a:r>
          </a:p>
          <a:p>
            <a:pPr algn="l">
              <a:spcAft>
                <a:spcPts val="400"/>
              </a:spcAft>
            </a:pPr>
            <a:r>
              <a:rPr sz="1300" b="1" i="0">
                <a:solidFill>
                  <a:srgbClr val="FFFFFF"/>
                </a:solidFill>
                <a:latin typeface="Segoe UI"/>
                <a:cs typeface="Segoe UI"/>
              </a:rPr>
              <a:t>“ « مِن مَّالٍ » ➔ Recited as 'Mim-maalin' (Doubled Meem) ”</a:t>
            </a:r>
          </a:p>
        </p:txBody>
      </p:sp>
    </p:spTree>
  </p:cSld>
  <p:clrMapOvr>
    <a:masterClrMapping/>
  </p:clrMapOvr>
  <p:transition spd="med">
    <p:fade/>
  </p:transition>
  <p:timing>
    <p:tnLst>
      <p:par>
        <p:cTn id="1" dur="indefinite" restart="always" nodeType="tmRoot">
          <p:childTnLst>
            <p:seq concurrent="1" nextAc="seek">
              <p:cTn id="2" dur="indefinite" nodeType="mainSeq">
                <p:childTnLst>
                  <p:par>
                    <p:cTn id="3" fill="hold">
                      <p:stCondLst>
                        <p:cond delay="0"/>
                      </p:stCondLst>
                      <p:childTnLst>
                        <p:par>
                          <p:cTn id="4" presetID="1" presetClass="entr" presetSubtype="0" fill="hold" nodeType="clickEffect">
                            <p:stCondLst>
                              <p:cond delay="0"/>
                            </p:stCondLst>
                            <p:childTnLst>
                              <p:set>
                                <p:cBhvr>
                                  <p:cTn id="5" dur="1" fill="hold"/>
                                  <p:tgtEl>
                                    <p:spTgt spid="8"/>
                                  </p:tgtEl>
                                  <p:attrNameLst>
                                    <p:attrName>style.visibility</p:attrName>
                                  </p:attrNameLst>
                                </p:cBhvr>
                                <p:to>
                                  <p:strVal val="visible"/>
                                </p:to>
                              </p:set>
                            </p:childTnLst>
                          </p:cTn>
                        </p:par>
                      </p:childTnLst>
                    </p:cTn>
                  </p:par>
                  <p:par>
                    <p:cTn id="6" fill="hold">
                      <p:stCondLst>
                        <p:cond delay="0"/>
                      </p:stCondLst>
                      <p:childTnLst>
                        <p:par>
                          <p:cTn id="7" presetID="1" presetClass="entr" presetSubtype="0" fill="hold" nodeType="clickEffect">
                            <p:stCondLst>
                              <p:cond delay="0"/>
                            </p:stCondLst>
                            <p:childTnLst>
                              <p:set>
                                <p:cBhvr>
                                  <p:cTn id="8" dur="1" fill="hold"/>
                                  <p:tgtEl>
                                    <p:spTgt spid="11"/>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nodeType="clickEffect">
                            <p:stCondLst>
                              <p:cond delay="0"/>
                            </p:stCondLst>
                            <p:childTnLst>
                              <p:set>
                                <p:cBhvr>
                                  <p:cTn id="11" dur="1" fill="hold"/>
                                  <p:tgtEl>
                                    <p:spTgt spid="12"/>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nodeType="clickEffect">
                            <p:stCondLst>
                              <p:cond delay="0"/>
                            </p:stCondLst>
                            <p:childTnLst>
                              <p:set>
                                <p:cBhvr>
                                  <p:cTn id="14" dur="1" fill="hold"/>
                                  <p:tgtEl>
                                    <p:spTgt spid="13"/>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build="asOne"/>
      <p:bldGraphic spid="11" grpId="0" build="asOne"/>
      <p:bldGraphic spid="12" grpId="0" build="asOne"/>
      <p:bldGraphic spid="13" grpId="0" build="asOne"/>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0" y="-1645920"/>
            <a:ext cx="5486400" cy="4114800"/>
          </a:xfrm>
          <a:prstGeom prst="ellipse">
            <a:avLst/>
          </a:prstGeom>
          <a:solidFill>
            <a:srgbClr val="10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371600" y="4572000"/>
            <a:ext cx="4572000" cy="3657600"/>
          </a:xfrm>
          <a:prstGeom prst="ellipse">
            <a:avLst/>
          </a:prstGeom>
          <a:solidFill>
            <a:srgbClr val="0D1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48640"/>
            <a:ext cx="10728655" cy="777240"/>
          </a:xfrm>
          <a:prstGeom prst="rect">
            <a:avLst/>
          </a:prstGeom>
          <a:noFill/>
        </p:spPr>
        <p:txBody>
          <a:bodyPr wrap="square" lIns="45720">
            <a:spAutoFit/>
          </a:bodyPr>
          <a:lstStyle/>
          <a:p>
            <a:pPr algn="l">
              <a:spcAft>
                <a:spcPts val="400"/>
              </a:spcAft>
            </a:pPr>
            <a:r>
              <a:rPr sz="2600" b="1" i="0">
                <a:solidFill>
                  <a:srgbClr val="FFFFFF"/>
                </a:solidFill>
                <a:latin typeface="Segoe UI"/>
                <a:cs typeface="Segoe UI"/>
              </a:rPr>
              <a:t>الإدغام بغنة • Merging With Ghunnah (Yanmoo)</a:t>
            </a:r>
          </a:p>
        </p:txBody>
      </p:sp>
      <p:sp>
        <p:nvSpPr>
          <p:cNvPr id="6" name="Rectangle 5"/>
          <p:cNvSpPr/>
          <p:nvPr/>
        </p:nvSpPr>
        <p:spPr>
          <a:xfrm>
            <a:off x="731520" y="1508760"/>
            <a:ext cx="10728655" cy="22860"/>
          </a:xfrm>
          <a:prstGeom prst="rect">
            <a:avLst/>
          </a:prstGeom>
          <a:solidFill>
            <a:srgbClr val="2A3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499616"/>
            <a:ext cx="2011680" cy="36576"/>
          </a:xfrm>
          <a:prstGeom prst="rect">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828800"/>
            <a:ext cx="4389120" cy="4480560"/>
          </a:xfrm>
          <a:prstGeom prst="roundRect">
            <a:avLst/>
          </a:prstGeom>
          <a:solidFill>
            <a:srgbClr val="131D31"/>
          </a:solidFill>
          <a:ln w="19050">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dgham_ghunnah.jpg"/>
          <p:cNvPicPr>
            <a:picLocks noChangeAspect="1"/>
          </p:cNvPicPr>
          <p:nvPr/>
        </p:nvPicPr>
        <p:blipFill>
          <a:blip r:embed="rId2"/>
          <a:stretch>
            <a:fillRect/>
          </a:stretch>
        </p:blipFill>
        <p:spPr>
          <a:xfrm>
            <a:off x="914400" y="1965960"/>
            <a:ext cx="4023360" cy="4160520"/>
          </a:xfrm>
          <a:prstGeom prst="rect">
            <a:avLst/>
          </a:prstGeom>
        </p:spPr>
      </p:pic>
      <p:sp>
        <p:nvSpPr>
          <p:cNvPr id="10" name="Rounded Rectangle 9"/>
          <p:cNvSpPr/>
          <p:nvPr/>
        </p:nvSpPr>
        <p:spPr>
          <a:xfrm>
            <a:off x="5394960" y="1783080"/>
            <a:ext cx="3291840" cy="329184"/>
          </a:xfrm>
          <a:prstGeom prst="roundRect">
            <a:avLst/>
          </a:prstGeom>
          <a:solidFill>
            <a:srgbClr val="1A263E"/>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l">
              <a:spcAft>
                <a:spcPts val="400"/>
              </a:spcAft>
            </a:pPr>
            <a:r>
              <a:rPr sz="1100" b="1" i="0">
                <a:solidFill>
                  <a:srgbClr val="38BDF8"/>
                </a:solidFill>
                <a:latin typeface="Segoe UI"/>
                <a:cs typeface="Segoe UI"/>
              </a:rPr>
              <a:t>🗣  Letters of Yanmoo: « يَنْمُو » • [ ي ، ن ، م ، و ] • 2 Counts</a:t>
            </a:r>
          </a:p>
        </p:txBody>
      </p:sp>
      <p:sp>
        <p:nvSpPr>
          <p:cNvPr id="11" name="Rounded Rectangle 10"/>
          <p:cNvSpPr/>
          <p:nvPr/>
        </p:nvSpPr>
        <p:spPr>
          <a:xfrm>
            <a:off x="5394960" y="2212848"/>
            <a:ext cx="6065215" cy="1280160"/>
          </a:xfrm>
          <a:prstGeom prst="roundRect">
            <a:avLst/>
          </a:prstGeom>
          <a:solidFill>
            <a:srgbClr val="131D31"/>
          </a:solidFill>
          <a:ln w="19050">
            <a:solidFill>
              <a:srgbClr val="2A3F5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100" b="1" i="0">
                <a:solidFill>
                  <a:srgbClr val="FFB703"/>
                </a:solidFill>
                <a:latin typeface="Segoe UI"/>
                <a:cs typeface="Segoe UI"/>
              </a:rPr>
              <a:t>Meaning &amp; Core Rule:</a:t>
            </a:r>
          </a:p>
          <a:p>
            <a:pPr algn="l">
              <a:spcAft>
                <a:spcPts val="400"/>
              </a:spcAft>
            </a:pPr>
            <a:r>
              <a:rPr sz="1400" b="0" i="0">
                <a:solidFill>
                  <a:srgbClr val="F1F5F9"/>
                </a:solidFill>
                <a:latin typeface="Segoe UI"/>
                <a:cs typeface="Segoe UI"/>
              </a:rPr>
              <a:t>Merging the Noon Sakinah or Tanween into one of the 4 letters (ي، ن، م، و) accompanied by an audible, rich 2-count nasal resonance (Ghunnah) originating from the nasal cavity (الخيشوم).</a:t>
            </a:r>
          </a:p>
        </p:txBody>
      </p:sp>
      <p:sp>
        <p:nvSpPr>
          <p:cNvPr id="12" name="Rounded Rectangle 11"/>
          <p:cNvSpPr/>
          <p:nvPr/>
        </p:nvSpPr>
        <p:spPr>
          <a:xfrm>
            <a:off x="5394960" y="3611880"/>
            <a:ext cx="6065215" cy="1417320"/>
          </a:xfrm>
          <a:prstGeom prst="roundRect">
            <a:avLst/>
          </a:prstGeom>
          <a:solidFill>
            <a:srgbClr val="131D31"/>
          </a:solidFill>
          <a:ln w="15240">
            <a:solidFill>
              <a:srgbClr val="2A3F5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100" b="1" i="0">
                <a:solidFill>
                  <a:srgbClr val="38BDF8"/>
                </a:solidFill>
                <a:latin typeface="Segoe UI"/>
                <a:cs typeface="Segoe UI"/>
              </a:rPr>
              <a:t>Key Breakdown &amp; Usage Notes:</a:t>
            </a:r>
          </a:p>
          <a:p>
            <a:pPr algn="l">
              <a:spcAft>
                <a:spcPts val="200"/>
              </a:spcAft>
            </a:pPr>
            <a:r>
              <a:rPr sz="1300" b="0" i="0">
                <a:solidFill>
                  <a:srgbClr val="CBD5E1"/>
                </a:solidFill>
                <a:latin typeface="Segoe UI"/>
                <a:cs typeface="Segoe UI"/>
              </a:rPr>
              <a:t>✔  Letter Ya (ي): « مَن يَعْمَلْ » ➔ 'May-ya'mal' (Hold 2 beats of nasal sound).</a:t>
            </a:r>
          </a:p>
          <a:p>
            <a:pPr algn="l">
              <a:spcAft>
                <a:spcPts val="200"/>
              </a:spcAft>
            </a:pPr>
            <a:r>
              <a:rPr sz="1300" b="0" i="0">
                <a:solidFill>
                  <a:srgbClr val="CBD5E1"/>
                </a:solidFill>
                <a:latin typeface="Segoe UI"/>
                <a:cs typeface="Segoe UI"/>
              </a:rPr>
              <a:t>✔  Letter Noon (ن): « مِن نِّعْمَةٍ » ➔ 'Min-ni'mah' (Doubled Noon with 2 counts).</a:t>
            </a:r>
          </a:p>
          <a:p>
            <a:pPr algn="l">
              <a:spcAft>
                <a:spcPts val="200"/>
              </a:spcAft>
            </a:pPr>
            <a:r>
              <a:rPr sz="1300" b="0" i="0">
                <a:solidFill>
                  <a:srgbClr val="CBD5E1"/>
                </a:solidFill>
                <a:latin typeface="Segoe UI"/>
                <a:cs typeface="Segoe UI"/>
              </a:rPr>
              <a:t>✔  Letter Meem (م): « مِّن مَّالٍ » ➔ 'Mim-maal' &amp; Tanween « قَوْلٌ مَّعْرُوفٌ ».</a:t>
            </a:r>
          </a:p>
        </p:txBody>
      </p:sp>
      <p:sp>
        <p:nvSpPr>
          <p:cNvPr id="13" name="Rounded Rectangle 12"/>
          <p:cNvSpPr/>
          <p:nvPr/>
        </p:nvSpPr>
        <p:spPr>
          <a:xfrm>
            <a:off x="5394960" y="5138928"/>
            <a:ext cx="6065215" cy="1170432"/>
          </a:xfrm>
          <a:prstGeom prst="roundRect">
            <a:avLst/>
          </a:prstGeom>
          <a:solidFill>
            <a:srgbClr val="101F3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l">
              <a:spcAft>
                <a:spcPts val="200"/>
              </a:spcAft>
            </a:pPr>
            <a:r>
              <a:rPr sz="1100" b="1" i="0">
                <a:solidFill>
                  <a:srgbClr val="10B981"/>
                </a:solidFill>
                <a:latin typeface="Segoe UI"/>
                <a:cs typeface="Segoe UI"/>
              </a:rPr>
              <a:t>💡 Practical Example:</a:t>
            </a:r>
          </a:p>
          <a:p>
            <a:pPr algn="l">
              <a:spcAft>
                <a:spcPts val="400"/>
              </a:spcAft>
            </a:pPr>
            <a:r>
              <a:rPr sz="1300" b="1" i="0">
                <a:solidFill>
                  <a:srgbClr val="FFFFFF"/>
                </a:solidFill>
                <a:latin typeface="Segoe UI"/>
                <a:cs typeface="Segoe UI"/>
              </a:rPr>
              <a:t>“ « خَيْرًا يَرَهُ » ➔ Tanween merged into Ya: 'Khayray-yarah ”</a:t>
            </a:r>
          </a:p>
        </p:txBody>
      </p:sp>
    </p:spTree>
  </p:cSld>
  <p:clrMapOvr>
    <a:masterClrMapping/>
  </p:clrMapOvr>
  <p:transition spd="med">
    <p:fade/>
  </p:transition>
  <p:timing>
    <p:tnLst>
      <p:par>
        <p:cTn id="1" dur="indefinite" restart="always" nodeType="tmRoot">
          <p:childTnLst>
            <p:seq concurrent="1" nextAc="seek">
              <p:cTn id="2" dur="indefinite" nodeType="mainSeq">
                <p:childTnLst>
                  <p:par>
                    <p:cTn id="3" fill="hold">
                      <p:stCondLst>
                        <p:cond delay="0"/>
                      </p:stCondLst>
                      <p:childTnLst>
                        <p:par>
                          <p:cTn id="4" presetID="1" presetClass="entr" presetSubtype="0" fill="hold" nodeType="clickEffect">
                            <p:stCondLst>
                              <p:cond delay="0"/>
                            </p:stCondLst>
                            <p:childTnLst>
                              <p:set>
                                <p:cBhvr>
                                  <p:cTn id="5" dur="1" fill="hold"/>
                                  <p:tgtEl>
                                    <p:spTgt spid="8"/>
                                  </p:tgtEl>
                                  <p:attrNameLst>
                                    <p:attrName>style.visibility</p:attrName>
                                  </p:attrNameLst>
                                </p:cBhvr>
                                <p:to>
                                  <p:strVal val="visible"/>
                                </p:to>
                              </p:set>
                            </p:childTnLst>
                          </p:cTn>
                        </p:par>
                      </p:childTnLst>
                    </p:cTn>
                  </p:par>
                  <p:par>
                    <p:cTn id="6" fill="hold">
                      <p:stCondLst>
                        <p:cond delay="0"/>
                      </p:stCondLst>
                      <p:childTnLst>
                        <p:par>
                          <p:cTn id="7" presetID="1" presetClass="entr" presetSubtype="0" fill="hold" nodeType="clickEffect">
                            <p:stCondLst>
                              <p:cond delay="0"/>
                            </p:stCondLst>
                            <p:childTnLst>
                              <p:set>
                                <p:cBhvr>
                                  <p:cTn id="8" dur="1" fill="hold"/>
                                  <p:tgtEl>
                                    <p:spTgt spid="11"/>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nodeType="clickEffect">
                            <p:stCondLst>
                              <p:cond delay="0"/>
                            </p:stCondLst>
                            <p:childTnLst>
                              <p:set>
                                <p:cBhvr>
                                  <p:cTn id="11" dur="1" fill="hold"/>
                                  <p:tgtEl>
                                    <p:spTgt spid="12"/>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nodeType="clickEffect">
                            <p:stCondLst>
                              <p:cond delay="0"/>
                            </p:stCondLst>
                            <p:childTnLst>
                              <p:set>
                                <p:cBhvr>
                                  <p:cTn id="14" dur="1" fill="hold"/>
                                  <p:tgtEl>
                                    <p:spTgt spid="13"/>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build="asOne"/>
      <p:bldGraphic spid="11" grpId="0" build="asOne"/>
      <p:bldGraphic spid="12" grpId="0" build="asOne"/>
      <p:bldGraphic spid="13" grpId="0" build="asOne"/>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0" y="-1645920"/>
            <a:ext cx="5486400" cy="4114800"/>
          </a:xfrm>
          <a:prstGeom prst="ellipse">
            <a:avLst/>
          </a:prstGeom>
          <a:solidFill>
            <a:srgbClr val="10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371600" y="4572000"/>
            <a:ext cx="4572000" cy="3657600"/>
          </a:xfrm>
          <a:prstGeom prst="ellipse">
            <a:avLst/>
          </a:prstGeom>
          <a:solidFill>
            <a:srgbClr val="0D1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48640"/>
            <a:ext cx="10728655" cy="777240"/>
          </a:xfrm>
          <a:prstGeom prst="rect">
            <a:avLst/>
          </a:prstGeom>
          <a:noFill/>
        </p:spPr>
        <p:txBody>
          <a:bodyPr wrap="square" lIns="45720">
            <a:spAutoFit/>
          </a:bodyPr>
          <a:lstStyle/>
          <a:p>
            <a:pPr algn="l">
              <a:spcAft>
                <a:spcPts val="400"/>
              </a:spcAft>
            </a:pPr>
            <a:r>
              <a:rPr sz="2600" b="1" i="0">
                <a:solidFill>
                  <a:srgbClr val="FFFFFF"/>
                </a:solidFill>
                <a:latin typeface="Segoe UI"/>
                <a:cs typeface="Segoe UI"/>
              </a:rPr>
              <a:t>الإدغام بغير غنة • Merging Without Ghunnah</a:t>
            </a:r>
          </a:p>
        </p:txBody>
      </p:sp>
      <p:sp>
        <p:nvSpPr>
          <p:cNvPr id="6" name="Rectangle 5"/>
          <p:cNvSpPr/>
          <p:nvPr/>
        </p:nvSpPr>
        <p:spPr>
          <a:xfrm>
            <a:off x="731520" y="1508760"/>
            <a:ext cx="10728655" cy="22860"/>
          </a:xfrm>
          <a:prstGeom prst="rect">
            <a:avLst/>
          </a:prstGeom>
          <a:solidFill>
            <a:srgbClr val="2A3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499616"/>
            <a:ext cx="2011680" cy="36576"/>
          </a:xfrm>
          <a:prstGeom prst="rect">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828800"/>
            <a:ext cx="4389120" cy="4480560"/>
          </a:xfrm>
          <a:prstGeom prst="roundRect">
            <a:avLst/>
          </a:prstGeom>
          <a:solidFill>
            <a:srgbClr val="131D31"/>
          </a:solidFill>
          <a:ln w="19050">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dgham_ghunnah.jpg"/>
          <p:cNvPicPr>
            <a:picLocks noChangeAspect="1"/>
          </p:cNvPicPr>
          <p:nvPr/>
        </p:nvPicPr>
        <p:blipFill>
          <a:blip r:embed="rId2"/>
          <a:stretch>
            <a:fillRect/>
          </a:stretch>
        </p:blipFill>
        <p:spPr>
          <a:xfrm>
            <a:off x="914400" y="1965960"/>
            <a:ext cx="4023360" cy="4160520"/>
          </a:xfrm>
          <a:prstGeom prst="rect">
            <a:avLst/>
          </a:prstGeom>
        </p:spPr>
      </p:pic>
      <p:sp>
        <p:nvSpPr>
          <p:cNvPr id="10" name="Rounded Rectangle 9"/>
          <p:cNvSpPr/>
          <p:nvPr/>
        </p:nvSpPr>
        <p:spPr>
          <a:xfrm>
            <a:off x="5394960" y="1783080"/>
            <a:ext cx="3291840" cy="329184"/>
          </a:xfrm>
          <a:prstGeom prst="roundRect">
            <a:avLst/>
          </a:prstGeom>
          <a:solidFill>
            <a:srgbClr val="1A263E"/>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l">
              <a:spcAft>
                <a:spcPts val="400"/>
              </a:spcAft>
            </a:pPr>
            <a:r>
              <a:rPr sz="1100" b="1" i="0">
                <a:solidFill>
                  <a:srgbClr val="38BDF8"/>
                </a:solidFill>
                <a:latin typeface="Segoe UI"/>
                <a:cs typeface="Segoe UI"/>
              </a:rPr>
              <a:t>🗣  Letters: [ ر ، ل ] • Ra &amp; Lam • Complete Rapid Assimilation</a:t>
            </a:r>
          </a:p>
        </p:txBody>
      </p:sp>
      <p:sp>
        <p:nvSpPr>
          <p:cNvPr id="11" name="Rounded Rectangle 10"/>
          <p:cNvSpPr/>
          <p:nvPr/>
        </p:nvSpPr>
        <p:spPr>
          <a:xfrm>
            <a:off x="5394960" y="2212848"/>
            <a:ext cx="6065215" cy="1280160"/>
          </a:xfrm>
          <a:prstGeom prst="roundRect">
            <a:avLst/>
          </a:prstGeom>
          <a:solidFill>
            <a:srgbClr val="131D31"/>
          </a:solidFill>
          <a:ln w="19050">
            <a:solidFill>
              <a:srgbClr val="2A3F5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100" b="1" i="0">
                <a:solidFill>
                  <a:srgbClr val="FFB703"/>
                </a:solidFill>
                <a:latin typeface="Segoe UI"/>
                <a:cs typeface="Segoe UI"/>
              </a:rPr>
              <a:t>Meaning &amp; Core Rule:</a:t>
            </a:r>
          </a:p>
          <a:p>
            <a:pPr algn="l">
              <a:spcAft>
                <a:spcPts val="400"/>
              </a:spcAft>
            </a:pPr>
            <a:r>
              <a:rPr sz="1400" b="0" i="0">
                <a:solidFill>
                  <a:srgbClr val="F1F5F9"/>
                </a:solidFill>
                <a:latin typeface="Segoe UI"/>
                <a:cs typeface="Segoe UI"/>
              </a:rPr>
              <a:t>Complete assimilation of the Noon Sakinah or Tanween into [ ر ] or [ ل ] with NO nasal humming sound whatsoever. The Noon sound completely vanishes into the doubled letter.</a:t>
            </a:r>
          </a:p>
        </p:txBody>
      </p:sp>
      <p:sp>
        <p:nvSpPr>
          <p:cNvPr id="12" name="Rounded Rectangle 11"/>
          <p:cNvSpPr/>
          <p:nvPr/>
        </p:nvSpPr>
        <p:spPr>
          <a:xfrm>
            <a:off x="5394960" y="3611880"/>
            <a:ext cx="6065215" cy="1417320"/>
          </a:xfrm>
          <a:prstGeom prst="roundRect">
            <a:avLst/>
          </a:prstGeom>
          <a:solidFill>
            <a:srgbClr val="131D31"/>
          </a:solidFill>
          <a:ln w="15240">
            <a:solidFill>
              <a:srgbClr val="2A3F5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100" b="1" i="0">
                <a:solidFill>
                  <a:srgbClr val="38BDF8"/>
                </a:solidFill>
                <a:latin typeface="Segoe UI"/>
                <a:cs typeface="Segoe UI"/>
              </a:rPr>
              <a:t>Key Breakdown &amp; Usage Notes:</a:t>
            </a:r>
          </a:p>
          <a:p>
            <a:pPr algn="l">
              <a:spcAft>
                <a:spcPts val="200"/>
              </a:spcAft>
            </a:pPr>
            <a:r>
              <a:rPr sz="1300" b="0" i="0">
                <a:solidFill>
                  <a:srgbClr val="CBD5E1"/>
                </a:solidFill>
                <a:latin typeface="Segoe UI"/>
                <a:cs typeface="Segoe UI"/>
              </a:rPr>
              <a:t>✔  Letter Lam (ل): « مِّن لَّدُنْهُ » ➔ 'Mil-ladunhu' (Direct crisp doubled L).</a:t>
            </a:r>
          </a:p>
          <a:p>
            <a:pPr algn="l">
              <a:spcAft>
                <a:spcPts val="200"/>
              </a:spcAft>
            </a:pPr>
            <a:r>
              <a:rPr sz="1300" b="0" i="0">
                <a:solidFill>
                  <a:srgbClr val="CBD5E1"/>
                </a:solidFill>
                <a:latin typeface="Segoe UI"/>
                <a:cs typeface="Segoe UI"/>
              </a:rPr>
              <a:t>✔  Letter Lam Tanween: « هُدًى لِّلْمُتَّقِينَ » ➔ 'Hudal-lil-muttaqeen'.</a:t>
            </a:r>
          </a:p>
          <a:p>
            <a:pPr algn="l">
              <a:spcAft>
                <a:spcPts val="200"/>
              </a:spcAft>
            </a:pPr>
            <a:r>
              <a:rPr sz="1300" b="0" i="0">
                <a:solidFill>
                  <a:srgbClr val="CBD5E1"/>
                </a:solidFill>
                <a:latin typeface="Segoe UI"/>
                <a:cs typeface="Segoe UI"/>
              </a:rPr>
              <a:t>✔  Letter Ra (ر): « مِن رَّبِّهِمْ » ➔ 'Mir-rabbihim' (Direct doubled R).</a:t>
            </a:r>
          </a:p>
        </p:txBody>
      </p:sp>
      <p:sp>
        <p:nvSpPr>
          <p:cNvPr id="13" name="Rounded Rectangle 12"/>
          <p:cNvSpPr/>
          <p:nvPr/>
        </p:nvSpPr>
        <p:spPr>
          <a:xfrm>
            <a:off x="5394960" y="5138928"/>
            <a:ext cx="6065215" cy="1170432"/>
          </a:xfrm>
          <a:prstGeom prst="roundRect">
            <a:avLst/>
          </a:prstGeom>
          <a:solidFill>
            <a:srgbClr val="101F3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l">
              <a:spcAft>
                <a:spcPts val="200"/>
              </a:spcAft>
            </a:pPr>
            <a:r>
              <a:rPr sz="1100" b="1" i="0">
                <a:solidFill>
                  <a:srgbClr val="10B981"/>
                </a:solidFill>
                <a:latin typeface="Segoe UI"/>
                <a:cs typeface="Segoe UI"/>
              </a:rPr>
              <a:t>💡 Practical Example:</a:t>
            </a:r>
          </a:p>
          <a:p>
            <a:pPr algn="l">
              <a:spcAft>
                <a:spcPts val="400"/>
              </a:spcAft>
            </a:pPr>
            <a:r>
              <a:rPr sz="1300" b="1" i="0">
                <a:solidFill>
                  <a:srgbClr val="FFFFFF"/>
                </a:solidFill>
                <a:latin typeface="Segoe UI"/>
                <a:cs typeface="Segoe UI"/>
              </a:rPr>
              <a:t>“ « مِن رَّبِّهِمْ » ➔ Swift merging into Ra with ZERO nasal sound ”</a:t>
            </a:r>
          </a:p>
        </p:txBody>
      </p:sp>
    </p:spTree>
  </p:cSld>
  <p:clrMapOvr>
    <a:masterClrMapping/>
  </p:clrMapOvr>
  <p:transition spd="med">
    <p:fade/>
  </p:transition>
  <p:timing>
    <p:tnLst>
      <p:par>
        <p:cTn id="1" dur="indefinite" restart="always" nodeType="tmRoot">
          <p:childTnLst>
            <p:seq concurrent="1" nextAc="seek">
              <p:cTn id="2" dur="indefinite" nodeType="mainSeq">
                <p:childTnLst>
                  <p:par>
                    <p:cTn id="3" fill="hold">
                      <p:stCondLst>
                        <p:cond delay="0"/>
                      </p:stCondLst>
                      <p:childTnLst>
                        <p:par>
                          <p:cTn id="4" presetID="1" presetClass="entr" presetSubtype="0" fill="hold" nodeType="clickEffect">
                            <p:stCondLst>
                              <p:cond delay="0"/>
                            </p:stCondLst>
                            <p:childTnLst>
                              <p:set>
                                <p:cBhvr>
                                  <p:cTn id="5" dur="1" fill="hold"/>
                                  <p:tgtEl>
                                    <p:spTgt spid="8"/>
                                  </p:tgtEl>
                                  <p:attrNameLst>
                                    <p:attrName>style.visibility</p:attrName>
                                  </p:attrNameLst>
                                </p:cBhvr>
                                <p:to>
                                  <p:strVal val="visible"/>
                                </p:to>
                              </p:set>
                            </p:childTnLst>
                          </p:cTn>
                        </p:par>
                      </p:childTnLst>
                    </p:cTn>
                  </p:par>
                  <p:par>
                    <p:cTn id="6" fill="hold">
                      <p:stCondLst>
                        <p:cond delay="0"/>
                      </p:stCondLst>
                      <p:childTnLst>
                        <p:par>
                          <p:cTn id="7" presetID="1" presetClass="entr" presetSubtype="0" fill="hold" nodeType="clickEffect">
                            <p:stCondLst>
                              <p:cond delay="0"/>
                            </p:stCondLst>
                            <p:childTnLst>
                              <p:set>
                                <p:cBhvr>
                                  <p:cTn id="8" dur="1" fill="hold"/>
                                  <p:tgtEl>
                                    <p:spTgt spid="11"/>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nodeType="clickEffect">
                            <p:stCondLst>
                              <p:cond delay="0"/>
                            </p:stCondLst>
                            <p:childTnLst>
                              <p:set>
                                <p:cBhvr>
                                  <p:cTn id="11" dur="1" fill="hold"/>
                                  <p:tgtEl>
                                    <p:spTgt spid="12"/>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nodeType="clickEffect">
                            <p:stCondLst>
                              <p:cond delay="0"/>
                            </p:stCondLst>
                            <p:childTnLst>
                              <p:set>
                                <p:cBhvr>
                                  <p:cTn id="14" dur="1" fill="hold"/>
                                  <p:tgtEl>
                                    <p:spTgt spid="13"/>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build="asOne"/>
      <p:bldGraphic spid="11" grpId="0" build="asOne"/>
      <p:bldGraphic spid="12" grpId="0" build="asOne"/>
      <p:bldGraphic spid="13" grpId="0" build="asOne"/>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0" y="-1645920"/>
            <a:ext cx="5486400" cy="4114800"/>
          </a:xfrm>
          <a:prstGeom prst="ellipse">
            <a:avLst/>
          </a:prstGeom>
          <a:solidFill>
            <a:srgbClr val="10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371600" y="4572000"/>
            <a:ext cx="4572000" cy="3657600"/>
          </a:xfrm>
          <a:prstGeom prst="ellipse">
            <a:avLst/>
          </a:prstGeom>
          <a:solidFill>
            <a:srgbClr val="0D1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347472"/>
            <a:ext cx="3108960" cy="347472"/>
          </a:xfrm>
          <a:prstGeom prst="roundRect">
            <a:avLst/>
          </a:prstGeom>
          <a:solidFill>
            <a:srgbClr val="1A263E"/>
          </a:solidFill>
          <a:ln w="17780">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400"/>
              </a:spcAft>
            </a:pPr>
            <a:r>
              <a:rPr sz="1000" b="1" i="0">
                <a:solidFill>
                  <a:srgbClr val="FFB703"/>
                </a:solidFill>
                <a:latin typeface="Segoe UI"/>
                <a:cs typeface="Segoe UI"/>
              </a:rPr>
              <a:t>✦  COMPARISON MATRIX</a:t>
            </a:r>
          </a:p>
        </p:txBody>
      </p:sp>
      <p:sp>
        <p:nvSpPr>
          <p:cNvPr id="6" name="TextBox 5"/>
          <p:cNvSpPr txBox="1"/>
          <p:nvPr/>
        </p:nvSpPr>
        <p:spPr>
          <a:xfrm>
            <a:off x="731520" y="749808"/>
            <a:ext cx="10728655" cy="777240"/>
          </a:xfrm>
          <a:prstGeom prst="rect">
            <a:avLst/>
          </a:prstGeom>
          <a:noFill/>
        </p:spPr>
        <p:txBody>
          <a:bodyPr wrap="square" lIns="45720">
            <a:spAutoFit/>
          </a:bodyPr>
          <a:lstStyle/>
          <a:p>
            <a:pPr algn="l">
              <a:spcAft>
                <a:spcPts val="400"/>
              </a:spcAft>
            </a:pPr>
            <a:r>
              <a:rPr sz="2600" b="1" i="0">
                <a:solidFill>
                  <a:srgbClr val="FFFFFF"/>
                </a:solidFill>
                <a:latin typeface="Segoe UI"/>
                <a:cs typeface="Segoe UI"/>
              </a:rPr>
              <a:t>Comparative Matrix: With Ghunnah vs. Without Ghunnah</a:t>
            </a:r>
          </a:p>
        </p:txBody>
      </p:sp>
      <p:sp>
        <p:nvSpPr>
          <p:cNvPr id="7" name="Rectangle 6"/>
          <p:cNvSpPr/>
          <p:nvPr/>
        </p:nvSpPr>
        <p:spPr>
          <a:xfrm>
            <a:off x="731520" y="1508760"/>
            <a:ext cx="10728655" cy="22860"/>
          </a:xfrm>
          <a:prstGeom prst="rect">
            <a:avLst/>
          </a:prstGeom>
          <a:solidFill>
            <a:srgbClr val="2A3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499616"/>
            <a:ext cx="2011680" cy="36576"/>
          </a:xfrm>
          <a:prstGeom prst="rect">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731520" y="1828800"/>
          <a:ext cx="10728655" cy="4389120"/>
        </p:xfrm>
        <a:graphic>
          <a:graphicData uri="http://schemas.openxmlformats.org/drawingml/2006/table">
            <a:tbl>
              <a:tblPr firstRow="1" bandRow="1">
                <a:tableStyleId>{5C22544A-7EE6-4342-B048-85BDC9FD1C3A}</a:tableStyleId>
              </a:tblPr>
              <a:tblGrid>
                <a:gridCol w="3576218"/>
                <a:gridCol w="3576218"/>
                <a:gridCol w="3576219"/>
              </a:tblGrid>
              <a:tr h="731520">
                <a:tc>
                  <a:txBody>
                    <a:bodyPr/>
                    <a:lstStyle/>
                    <a:p>
                      <a:pPr algn="ctr">
                        <a:spcAft>
                          <a:spcPts val="400"/>
                        </a:spcAft>
                      </a:pPr>
                      <a:r>
                        <a:rPr sz="1500" b="1" i="0">
                          <a:solidFill>
                            <a:srgbClr val="FFB703"/>
                          </a:solidFill>
                          <a:latin typeface="Segoe UI"/>
                          <a:cs typeface="Segoe UI"/>
                        </a:rPr>
                        <a:t>Rule Aspect</a:t>
                      </a:r>
                    </a:p>
                  </a:txBody>
                  <a:tcPr anchor="ctr" marL="109728" marR="109728">
                    <a:solidFill>
                      <a:srgbClr val="1A263E"/>
                    </a:solidFill>
                  </a:tcPr>
                </a:tc>
                <a:tc>
                  <a:txBody>
                    <a:bodyPr/>
                    <a:lstStyle/>
                    <a:p>
                      <a:pPr algn="ctr">
                        <a:spcAft>
                          <a:spcPts val="400"/>
                        </a:spcAft>
                      </a:pPr>
                      <a:r>
                        <a:rPr sz="1500" b="1" i="0">
                          <a:solidFill>
                            <a:srgbClr val="38BDF8"/>
                          </a:solidFill>
                          <a:latin typeface="Segoe UI"/>
                          <a:cs typeface="Segoe UI"/>
                        </a:rPr>
                        <a:t>الإدغام بغنة • With Ghunnah</a:t>
                      </a:r>
                    </a:p>
                  </a:txBody>
                  <a:tcPr anchor="ctr" marL="109728" marR="109728">
                    <a:solidFill>
                      <a:srgbClr val="101F3C"/>
                    </a:solidFill>
                  </a:tcPr>
                </a:tc>
                <a:tc>
                  <a:txBody>
                    <a:bodyPr/>
                    <a:lstStyle/>
                    <a:p>
                      <a:pPr algn="ctr">
                        <a:spcAft>
                          <a:spcPts val="400"/>
                        </a:spcAft>
                      </a:pPr>
                      <a:r>
                        <a:rPr sz="1500" b="1" i="0">
                          <a:solidFill>
                            <a:srgbClr val="38BDF8"/>
                          </a:solidFill>
                          <a:latin typeface="Segoe UI"/>
                          <a:cs typeface="Segoe UI"/>
                        </a:rPr>
                        <a:t>الإدغام بغير غنة • Without Ghunnah</a:t>
                      </a:r>
                    </a:p>
                  </a:txBody>
                  <a:tcPr anchor="ctr" marL="109728" marR="109728">
                    <a:solidFill>
                      <a:srgbClr val="1A263E"/>
                    </a:solidFill>
                  </a:tcPr>
                </a:tc>
              </a:tr>
              <a:tr h="731520">
                <a:tc>
                  <a:txBody>
                    <a:bodyPr/>
                    <a:lstStyle/>
                    <a:p>
                      <a:pPr algn="ctr">
                        <a:spcAft>
                          <a:spcPts val="400"/>
                        </a:spcAft>
                      </a:pPr>
                      <a:r>
                        <a:rPr sz="1300" b="0" i="0">
                          <a:solidFill>
                            <a:srgbClr val="F1F5F9"/>
                          </a:solidFill>
                          <a:latin typeface="Segoe UI"/>
                          <a:cs typeface="Segoe UI"/>
                        </a:rPr>
                        <a:t>Acoustic Nature</a:t>
                      </a:r>
                    </a:p>
                  </a:txBody>
                  <a:tcPr anchor="ctr" marL="109728" marR="109728">
                    <a:solidFill>
                      <a:srgbClr val="131D31"/>
                    </a:solidFill>
                  </a:tcPr>
                </a:tc>
                <a:tc>
                  <a:txBody>
                    <a:bodyPr/>
                    <a:lstStyle/>
                    <a:p>
                      <a:pPr algn="ctr">
                        <a:spcAft>
                          <a:spcPts val="400"/>
                        </a:spcAft>
                      </a:pPr>
                      <a:r>
                        <a:rPr sz="1300" b="0" i="0">
                          <a:solidFill>
                            <a:srgbClr val="F1F5F9"/>
                          </a:solidFill>
                          <a:latin typeface="Segoe UI"/>
                          <a:cs typeface="Segoe UI"/>
                        </a:rPr>
                        <a:t>Elongated 2-count nasal buzz from Khayshoom</a:t>
                      </a:r>
                    </a:p>
                  </a:txBody>
                  <a:tcPr anchor="ctr" marL="109728" marR="109728">
                    <a:solidFill>
                      <a:srgbClr val="131D31"/>
                    </a:solidFill>
                  </a:tcPr>
                </a:tc>
                <a:tc>
                  <a:txBody>
                    <a:bodyPr/>
                    <a:lstStyle/>
                    <a:p>
                      <a:pPr algn="ctr">
                        <a:spcAft>
                          <a:spcPts val="400"/>
                        </a:spcAft>
                      </a:pPr>
                      <a:r>
                        <a:rPr sz="1300" b="0" i="0">
                          <a:solidFill>
                            <a:srgbClr val="F1F5F9"/>
                          </a:solidFill>
                          <a:latin typeface="Segoe UI"/>
                          <a:cs typeface="Segoe UI"/>
                        </a:rPr>
                        <a:t>Instantaneous, complete merging with ZERO nasal sound</a:t>
                      </a:r>
                    </a:p>
                  </a:txBody>
                  <a:tcPr anchor="ctr" marL="109728" marR="109728">
                    <a:solidFill>
                      <a:srgbClr val="131D31"/>
                    </a:solidFill>
                  </a:tcPr>
                </a:tc>
              </a:tr>
              <a:tr h="731520">
                <a:tc>
                  <a:txBody>
                    <a:bodyPr/>
                    <a:lstStyle/>
                    <a:p>
                      <a:pPr algn="ctr">
                        <a:spcAft>
                          <a:spcPts val="400"/>
                        </a:spcAft>
                      </a:pPr>
                      <a:r>
                        <a:rPr sz="1300" b="0" i="0">
                          <a:solidFill>
                            <a:srgbClr val="F1F5F9"/>
                          </a:solidFill>
                          <a:latin typeface="Segoe UI"/>
                          <a:cs typeface="Segoe UI"/>
                        </a:rPr>
                        <a:t>Assigned Letters</a:t>
                      </a:r>
                    </a:p>
                  </a:txBody>
                  <a:tcPr anchor="ctr" marL="109728" marR="109728">
                    <a:solidFill>
                      <a:srgbClr val="0A1128"/>
                    </a:solidFill>
                  </a:tcPr>
                </a:tc>
                <a:tc>
                  <a:txBody>
                    <a:bodyPr/>
                    <a:lstStyle/>
                    <a:p>
                      <a:pPr algn="ctr" rtl="1">
                        <a:spcAft>
                          <a:spcPts val="400"/>
                        </a:spcAft>
                      </a:pPr>
                      <a:r>
                        <a:rPr sz="1300" b="0" i="0">
                          <a:solidFill>
                            <a:srgbClr val="F1F5F9"/>
                          </a:solidFill>
                          <a:latin typeface="Segoe UI"/>
                          <a:cs typeface="Dubai"/>
                        </a:rPr>
                        <a:t>4 Letters: « يَنْمُو » [ ي ، ن ، م ، و ]</a:t>
                      </a:r>
                    </a:p>
                  </a:txBody>
                  <a:tcPr anchor="ctr" marL="109728" marR="109728">
                    <a:solidFill>
                      <a:srgbClr val="0A1128"/>
                    </a:solidFill>
                  </a:tcPr>
                </a:tc>
                <a:tc>
                  <a:txBody>
                    <a:bodyPr/>
                    <a:lstStyle/>
                    <a:p>
                      <a:pPr algn="ctr">
                        <a:spcAft>
                          <a:spcPts val="400"/>
                        </a:spcAft>
                      </a:pPr>
                      <a:r>
                        <a:rPr sz="1300" b="0" i="0">
                          <a:solidFill>
                            <a:srgbClr val="F1F5F9"/>
                          </a:solidFill>
                          <a:latin typeface="Segoe UI"/>
                          <a:cs typeface="Segoe UI"/>
                        </a:rPr>
                        <a:t>2 Letters: [ ر ، ل ] (Ra and Lam)</a:t>
                      </a:r>
                    </a:p>
                  </a:txBody>
                  <a:tcPr anchor="ctr" marL="109728" marR="109728">
                    <a:solidFill>
                      <a:srgbClr val="0A1128"/>
                    </a:solidFill>
                  </a:tcPr>
                </a:tc>
              </a:tr>
              <a:tr h="731520">
                <a:tc>
                  <a:txBody>
                    <a:bodyPr/>
                    <a:lstStyle/>
                    <a:p>
                      <a:pPr algn="ctr">
                        <a:spcAft>
                          <a:spcPts val="400"/>
                        </a:spcAft>
                      </a:pPr>
                      <a:r>
                        <a:rPr sz="1300" b="0" i="0">
                          <a:solidFill>
                            <a:srgbClr val="F1F5F9"/>
                          </a:solidFill>
                          <a:latin typeface="Segoe UI"/>
                          <a:cs typeface="Segoe UI"/>
                        </a:rPr>
                        <a:t>Noon Sakinah Example</a:t>
                      </a:r>
                    </a:p>
                  </a:txBody>
                  <a:tcPr anchor="ctr" marL="109728" marR="109728">
                    <a:solidFill>
                      <a:srgbClr val="131D31"/>
                    </a:solidFill>
                  </a:tcPr>
                </a:tc>
                <a:tc>
                  <a:txBody>
                    <a:bodyPr/>
                    <a:lstStyle/>
                    <a:p>
                      <a:pPr algn="ctr">
                        <a:spcAft>
                          <a:spcPts val="400"/>
                        </a:spcAft>
                      </a:pPr>
                      <a:r>
                        <a:rPr sz="1300" b="0" i="0">
                          <a:solidFill>
                            <a:srgbClr val="F1F5F9"/>
                          </a:solidFill>
                          <a:latin typeface="Segoe UI"/>
                          <a:cs typeface="Segoe UI"/>
                        </a:rPr>
                        <a:t>« مَن يَقُولُ » ('May-yaqool')</a:t>
                      </a:r>
                    </a:p>
                  </a:txBody>
                  <a:tcPr anchor="ctr" marL="109728" marR="109728">
                    <a:solidFill>
                      <a:srgbClr val="131D31"/>
                    </a:solidFill>
                  </a:tcPr>
                </a:tc>
                <a:tc>
                  <a:txBody>
                    <a:bodyPr/>
                    <a:lstStyle/>
                    <a:p>
                      <a:pPr algn="ctr">
                        <a:spcAft>
                          <a:spcPts val="400"/>
                        </a:spcAft>
                      </a:pPr>
                      <a:r>
                        <a:rPr sz="1300" b="0" i="0">
                          <a:solidFill>
                            <a:srgbClr val="F1F5F9"/>
                          </a:solidFill>
                          <a:latin typeface="Segoe UI"/>
                          <a:cs typeface="Segoe UI"/>
                        </a:rPr>
                        <a:t>« مِن رَّبِّهِمْ » ('Mir-rabbihim')</a:t>
                      </a:r>
                    </a:p>
                  </a:txBody>
                  <a:tcPr anchor="ctr" marL="109728" marR="109728">
                    <a:solidFill>
                      <a:srgbClr val="131D31"/>
                    </a:solidFill>
                  </a:tcPr>
                </a:tc>
              </a:tr>
              <a:tr h="731520">
                <a:tc>
                  <a:txBody>
                    <a:bodyPr/>
                    <a:lstStyle/>
                    <a:p>
                      <a:pPr algn="ctr">
                        <a:spcAft>
                          <a:spcPts val="400"/>
                        </a:spcAft>
                      </a:pPr>
                      <a:r>
                        <a:rPr sz="1300" b="0" i="0">
                          <a:solidFill>
                            <a:srgbClr val="F1F5F9"/>
                          </a:solidFill>
                          <a:latin typeface="Segoe UI"/>
                          <a:cs typeface="Segoe UI"/>
                        </a:rPr>
                        <a:t>Tanween Example</a:t>
                      </a:r>
                    </a:p>
                  </a:txBody>
                  <a:tcPr anchor="ctr" marL="109728" marR="109728">
                    <a:solidFill>
                      <a:srgbClr val="0A1128"/>
                    </a:solidFill>
                  </a:tcPr>
                </a:tc>
                <a:tc>
                  <a:txBody>
                    <a:bodyPr/>
                    <a:lstStyle/>
                    <a:p>
                      <a:pPr algn="ctr">
                        <a:spcAft>
                          <a:spcPts val="400"/>
                        </a:spcAft>
                      </a:pPr>
                      <a:r>
                        <a:rPr sz="1300" b="0" i="0">
                          <a:solidFill>
                            <a:srgbClr val="F1F5F9"/>
                          </a:solidFill>
                          <a:latin typeface="Segoe UI"/>
                          <a:cs typeface="Segoe UI"/>
                        </a:rPr>
                        <a:t>« خَيْرًا يَرَهُ » ('Khayray-yarah')</a:t>
                      </a:r>
                    </a:p>
                  </a:txBody>
                  <a:tcPr anchor="ctr" marL="109728" marR="109728">
                    <a:solidFill>
                      <a:srgbClr val="0A1128"/>
                    </a:solidFill>
                  </a:tcPr>
                </a:tc>
                <a:tc>
                  <a:txBody>
                    <a:bodyPr/>
                    <a:lstStyle/>
                    <a:p>
                      <a:pPr algn="ctr">
                        <a:spcAft>
                          <a:spcPts val="400"/>
                        </a:spcAft>
                      </a:pPr>
                      <a:r>
                        <a:rPr sz="1300" b="0" i="0">
                          <a:solidFill>
                            <a:srgbClr val="F1F5F9"/>
                          </a:solidFill>
                          <a:latin typeface="Segoe UI"/>
                          <a:cs typeface="Segoe UI"/>
                        </a:rPr>
                        <a:t>« هُدًى لِّلْمُتَّقِينَ » ('Hudal-lil-muttaqeen')</a:t>
                      </a:r>
                    </a:p>
                  </a:txBody>
                  <a:tcPr anchor="ctr" marL="109728" marR="109728">
                    <a:solidFill>
                      <a:srgbClr val="0A1128"/>
                    </a:solidFill>
                  </a:tcPr>
                </a:tc>
              </a:tr>
              <a:tr h="731520">
                <a:tc>
                  <a:txBody>
                    <a:bodyPr/>
                    <a:lstStyle/>
                    <a:p>
                      <a:pPr algn="ctr">
                        <a:spcAft>
                          <a:spcPts val="400"/>
                        </a:spcAft>
                      </a:pPr>
                      <a:r>
                        <a:rPr sz="1300" b="0" i="0">
                          <a:solidFill>
                            <a:srgbClr val="F1F5F9"/>
                          </a:solidFill>
                          <a:latin typeface="Segoe UI"/>
                          <a:cs typeface="Segoe UI"/>
                        </a:rPr>
                        <a:t>Pronunciation Key</a:t>
                      </a:r>
                    </a:p>
                  </a:txBody>
                  <a:tcPr anchor="ctr" marL="109728" marR="109728">
                    <a:solidFill>
                      <a:srgbClr val="131D31"/>
                    </a:solidFill>
                  </a:tcPr>
                </a:tc>
                <a:tc>
                  <a:txBody>
                    <a:bodyPr/>
                    <a:lstStyle/>
                    <a:p>
                      <a:pPr algn="ctr">
                        <a:spcAft>
                          <a:spcPts val="400"/>
                        </a:spcAft>
                      </a:pPr>
                      <a:r>
                        <a:rPr sz="1300" b="0" i="0">
                          <a:solidFill>
                            <a:srgbClr val="F1F5F9"/>
                          </a:solidFill>
                          <a:latin typeface="Segoe UI"/>
                          <a:cs typeface="Segoe UI"/>
                        </a:rPr>
                        <a:t>Hold 2 natural vowel beats on the merged letter</a:t>
                      </a:r>
                    </a:p>
                  </a:txBody>
                  <a:tcPr anchor="ctr" marL="109728" marR="109728">
                    <a:solidFill>
                      <a:srgbClr val="131D31"/>
                    </a:solidFill>
                  </a:tcPr>
                </a:tc>
                <a:tc>
                  <a:txBody>
                    <a:bodyPr/>
                    <a:lstStyle/>
                    <a:p>
                      <a:pPr algn="ctr">
                        <a:spcAft>
                          <a:spcPts val="400"/>
                        </a:spcAft>
                      </a:pPr>
                      <a:r>
                        <a:rPr sz="1300" b="0" i="0">
                          <a:solidFill>
                            <a:srgbClr val="F1F5F9"/>
                          </a:solidFill>
                          <a:latin typeface="Segoe UI"/>
                          <a:cs typeface="Segoe UI"/>
                        </a:rPr>
                        <a:t>Double the letter immediately; do not linger</a:t>
                      </a:r>
                    </a:p>
                  </a:txBody>
                  <a:tcPr anchor="ctr" marL="109728" marR="109728">
                    <a:solidFill>
                      <a:srgbClr val="131D31"/>
                    </a:solidFill>
                  </a:tcPr>
                </a:tc>
              </a:tr>
            </a:tbl>
          </a:graphicData>
        </a:graphic>
      </p:graphicFrame>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0" y="-1645920"/>
            <a:ext cx="5486400" cy="4114800"/>
          </a:xfrm>
          <a:prstGeom prst="ellipse">
            <a:avLst/>
          </a:prstGeom>
          <a:solidFill>
            <a:srgbClr val="10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371600" y="4572000"/>
            <a:ext cx="4572000" cy="3657600"/>
          </a:xfrm>
          <a:prstGeom prst="ellipse">
            <a:avLst/>
          </a:prstGeom>
          <a:solidFill>
            <a:srgbClr val="0D1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48640"/>
            <a:ext cx="10728655" cy="777240"/>
          </a:xfrm>
          <a:prstGeom prst="rect">
            <a:avLst/>
          </a:prstGeom>
          <a:noFill/>
        </p:spPr>
        <p:txBody>
          <a:bodyPr wrap="square" lIns="45720">
            <a:spAutoFit/>
          </a:bodyPr>
          <a:lstStyle/>
          <a:p>
            <a:pPr algn="l">
              <a:spcAft>
                <a:spcPts val="400"/>
              </a:spcAft>
            </a:pPr>
            <a:r>
              <a:rPr sz="2600" b="1" i="0">
                <a:solidFill>
                  <a:srgbClr val="FFFFFF"/>
                </a:solidFill>
                <a:latin typeface="Segoe UI"/>
                <a:cs typeface="Segoe UI"/>
              </a:rPr>
              <a:t>الإظهار المطلق • The 4 Quranic Exceptions in ONE Word</a:t>
            </a:r>
          </a:p>
        </p:txBody>
      </p:sp>
      <p:sp>
        <p:nvSpPr>
          <p:cNvPr id="6" name="Rectangle 5"/>
          <p:cNvSpPr/>
          <p:nvPr/>
        </p:nvSpPr>
        <p:spPr>
          <a:xfrm>
            <a:off x="731520" y="1508760"/>
            <a:ext cx="10728655" cy="22860"/>
          </a:xfrm>
          <a:prstGeom prst="rect">
            <a:avLst/>
          </a:prstGeom>
          <a:solidFill>
            <a:srgbClr val="2A3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499616"/>
            <a:ext cx="2011680" cy="36576"/>
          </a:xfrm>
          <a:prstGeom prst="rect">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828800"/>
            <a:ext cx="4389120" cy="4480560"/>
          </a:xfrm>
          <a:prstGeom prst="roundRect">
            <a:avLst/>
          </a:prstGeom>
          <a:solidFill>
            <a:srgbClr val="131D31"/>
          </a:solidFill>
          <a:ln w="19050">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zhar_halqi.jpg"/>
          <p:cNvPicPr>
            <a:picLocks noChangeAspect="1"/>
          </p:cNvPicPr>
          <p:nvPr/>
        </p:nvPicPr>
        <p:blipFill>
          <a:blip r:embed="rId2"/>
          <a:stretch>
            <a:fillRect/>
          </a:stretch>
        </p:blipFill>
        <p:spPr>
          <a:xfrm>
            <a:off x="914400" y="1965960"/>
            <a:ext cx="4023360" cy="4160520"/>
          </a:xfrm>
          <a:prstGeom prst="rect">
            <a:avLst/>
          </a:prstGeom>
        </p:spPr>
      </p:pic>
      <p:sp>
        <p:nvSpPr>
          <p:cNvPr id="10" name="Rounded Rectangle 9"/>
          <p:cNvSpPr/>
          <p:nvPr/>
        </p:nvSpPr>
        <p:spPr>
          <a:xfrm>
            <a:off x="5394960" y="1783080"/>
            <a:ext cx="3291840" cy="329184"/>
          </a:xfrm>
          <a:prstGeom prst="roundRect">
            <a:avLst/>
          </a:prstGeom>
          <a:solidFill>
            <a:srgbClr val="1A263E"/>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l">
              <a:spcAft>
                <a:spcPts val="400"/>
              </a:spcAft>
            </a:pPr>
            <a:r>
              <a:rPr sz="1100" b="1" i="0">
                <a:solidFill>
                  <a:srgbClr val="38BDF8"/>
                </a:solidFill>
                <a:latin typeface="Segoe UI"/>
                <a:cs typeface="Segoe UI"/>
              </a:rPr>
              <a:t>🗣  al-Iẓ-hār al-Muṭlaq • Absolute Manifestation in ONE Word</a:t>
            </a:r>
          </a:p>
        </p:txBody>
      </p:sp>
      <p:sp>
        <p:nvSpPr>
          <p:cNvPr id="11" name="Rounded Rectangle 10"/>
          <p:cNvSpPr/>
          <p:nvPr/>
        </p:nvSpPr>
        <p:spPr>
          <a:xfrm>
            <a:off x="5394960" y="2212848"/>
            <a:ext cx="6065215" cy="1280160"/>
          </a:xfrm>
          <a:prstGeom prst="roundRect">
            <a:avLst/>
          </a:prstGeom>
          <a:solidFill>
            <a:srgbClr val="131D31"/>
          </a:solidFill>
          <a:ln w="19050">
            <a:solidFill>
              <a:srgbClr val="2A3F5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100" b="1" i="0">
                <a:solidFill>
                  <a:srgbClr val="FFB703"/>
                </a:solidFill>
                <a:latin typeface="Segoe UI"/>
                <a:cs typeface="Segoe UI"/>
              </a:rPr>
              <a:t>Meaning &amp; Core Rule:</a:t>
            </a:r>
          </a:p>
          <a:p>
            <a:pPr algn="l">
              <a:spcAft>
                <a:spcPts val="400"/>
              </a:spcAft>
            </a:pPr>
            <a:r>
              <a:rPr sz="1400" b="0" i="0">
                <a:solidFill>
                  <a:srgbClr val="F1F5F9"/>
                </a:solidFill>
                <a:latin typeface="Segoe UI"/>
                <a:cs typeface="Segoe UI"/>
              </a:rPr>
              <a:t>A golden rule highlighted in the lesson: Idgham CANNOT occur within a single word! If Noon Sakinah meets an Idgham letter inside the SAME single word, Idgham is strictly forbidden and Noon must be recited clearly.</a:t>
            </a:r>
          </a:p>
        </p:txBody>
      </p:sp>
      <p:sp>
        <p:nvSpPr>
          <p:cNvPr id="12" name="Rounded Rectangle 11"/>
          <p:cNvSpPr/>
          <p:nvPr/>
        </p:nvSpPr>
        <p:spPr>
          <a:xfrm>
            <a:off x="5394960" y="3611880"/>
            <a:ext cx="6065215" cy="1417320"/>
          </a:xfrm>
          <a:prstGeom prst="roundRect">
            <a:avLst/>
          </a:prstGeom>
          <a:solidFill>
            <a:srgbClr val="131D31"/>
          </a:solidFill>
          <a:ln w="15240">
            <a:solidFill>
              <a:srgbClr val="2A3F5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100" b="1" i="0">
                <a:solidFill>
                  <a:srgbClr val="38BDF8"/>
                </a:solidFill>
                <a:latin typeface="Segoe UI"/>
                <a:cs typeface="Segoe UI"/>
              </a:rPr>
              <a:t>Key Breakdown &amp; Usage Notes:</a:t>
            </a:r>
          </a:p>
          <a:p>
            <a:pPr algn="l">
              <a:spcAft>
                <a:spcPts val="200"/>
              </a:spcAft>
            </a:pPr>
            <a:r>
              <a:rPr sz="1300" b="0" i="0">
                <a:solidFill>
                  <a:srgbClr val="CBD5E1"/>
                </a:solidFill>
                <a:latin typeface="Segoe UI"/>
                <a:cs typeface="Segoe UI"/>
              </a:rPr>
              <a:t>✔  Why? To protect the meaning of the Arabic word from distorting.</a:t>
            </a:r>
          </a:p>
          <a:p>
            <a:pPr algn="l">
              <a:spcAft>
                <a:spcPts val="200"/>
              </a:spcAft>
            </a:pPr>
            <a:r>
              <a:rPr sz="1300" b="0" i="0">
                <a:solidFill>
                  <a:srgbClr val="CBD5E1"/>
                </a:solidFill>
                <a:latin typeface="Segoe UI"/>
                <a:cs typeface="Segoe UI"/>
              </a:rPr>
              <a:t>✔  Occurs in ONLY FOUR words across the entire Holy Quran:</a:t>
            </a:r>
          </a:p>
          <a:p>
            <a:pPr algn="l">
              <a:spcAft>
                <a:spcPts val="200"/>
              </a:spcAft>
            </a:pPr>
            <a:r>
              <a:rPr sz="1300" b="0" i="0">
                <a:solidFill>
                  <a:srgbClr val="CBD5E1"/>
                </a:solidFill>
                <a:latin typeface="Segoe UI"/>
                <a:cs typeface="Segoe UI"/>
              </a:rPr>
              <a:t>✔  1. « دُنْيَا » (Dun-ya) &amp; 2. « بُنْيَانٌ » (Bun-yan) — [Noon + Ya]</a:t>
            </a:r>
          </a:p>
        </p:txBody>
      </p:sp>
      <p:sp>
        <p:nvSpPr>
          <p:cNvPr id="13" name="Rounded Rectangle 12"/>
          <p:cNvSpPr/>
          <p:nvPr/>
        </p:nvSpPr>
        <p:spPr>
          <a:xfrm>
            <a:off x="5394960" y="5138928"/>
            <a:ext cx="6065215" cy="1170432"/>
          </a:xfrm>
          <a:prstGeom prst="roundRect">
            <a:avLst/>
          </a:prstGeom>
          <a:solidFill>
            <a:srgbClr val="101F3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l">
              <a:spcAft>
                <a:spcPts val="200"/>
              </a:spcAft>
            </a:pPr>
            <a:r>
              <a:rPr sz="1100" b="1" i="0">
                <a:solidFill>
                  <a:srgbClr val="10B981"/>
                </a:solidFill>
                <a:latin typeface="Segoe UI"/>
                <a:cs typeface="Segoe UI"/>
              </a:rPr>
              <a:t>💡 Practical Example:</a:t>
            </a:r>
          </a:p>
          <a:p>
            <a:pPr algn="l">
              <a:spcAft>
                <a:spcPts val="400"/>
              </a:spcAft>
            </a:pPr>
            <a:r>
              <a:rPr sz="1300" b="1" i="0">
                <a:solidFill>
                  <a:srgbClr val="FFFFFF"/>
                </a:solidFill>
                <a:latin typeface="Segoe UI"/>
                <a:cs typeface="Segoe UI"/>
              </a:rPr>
              <a:t>“ « كَأَنَّهُم بُنْيَانٌ مَّرْصُوصٌ » ➔ Recite Noon clearly: ('Bun-yaan') ”</a:t>
            </a:r>
          </a:p>
        </p:txBody>
      </p:sp>
    </p:spTree>
  </p:cSld>
  <p:clrMapOvr>
    <a:masterClrMapping/>
  </p:clrMapOvr>
  <p:transition spd="med">
    <p:fade/>
  </p:transition>
  <p:timing>
    <p:tnLst>
      <p:par>
        <p:cTn id="1" dur="indefinite" restart="always" nodeType="tmRoot">
          <p:childTnLst>
            <p:seq concurrent="1" nextAc="seek">
              <p:cTn id="2" dur="indefinite" nodeType="mainSeq">
                <p:childTnLst>
                  <p:par>
                    <p:cTn id="3" fill="hold">
                      <p:stCondLst>
                        <p:cond delay="0"/>
                      </p:stCondLst>
                      <p:childTnLst>
                        <p:par>
                          <p:cTn id="4" presetID="1" presetClass="entr" presetSubtype="0" fill="hold" nodeType="clickEffect">
                            <p:stCondLst>
                              <p:cond delay="0"/>
                            </p:stCondLst>
                            <p:childTnLst>
                              <p:set>
                                <p:cBhvr>
                                  <p:cTn id="5" dur="1" fill="hold"/>
                                  <p:tgtEl>
                                    <p:spTgt spid="8"/>
                                  </p:tgtEl>
                                  <p:attrNameLst>
                                    <p:attrName>style.visibility</p:attrName>
                                  </p:attrNameLst>
                                </p:cBhvr>
                                <p:to>
                                  <p:strVal val="visible"/>
                                </p:to>
                              </p:set>
                            </p:childTnLst>
                          </p:cTn>
                        </p:par>
                      </p:childTnLst>
                    </p:cTn>
                  </p:par>
                  <p:par>
                    <p:cTn id="6" fill="hold">
                      <p:stCondLst>
                        <p:cond delay="0"/>
                      </p:stCondLst>
                      <p:childTnLst>
                        <p:par>
                          <p:cTn id="7" presetID="1" presetClass="entr" presetSubtype="0" fill="hold" nodeType="clickEffect">
                            <p:stCondLst>
                              <p:cond delay="0"/>
                            </p:stCondLst>
                            <p:childTnLst>
                              <p:set>
                                <p:cBhvr>
                                  <p:cTn id="8" dur="1" fill="hold"/>
                                  <p:tgtEl>
                                    <p:spTgt spid="11"/>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nodeType="clickEffect">
                            <p:stCondLst>
                              <p:cond delay="0"/>
                            </p:stCondLst>
                            <p:childTnLst>
                              <p:set>
                                <p:cBhvr>
                                  <p:cTn id="11" dur="1" fill="hold"/>
                                  <p:tgtEl>
                                    <p:spTgt spid="12"/>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nodeType="clickEffect">
                            <p:stCondLst>
                              <p:cond delay="0"/>
                            </p:stCondLst>
                            <p:childTnLst>
                              <p:set>
                                <p:cBhvr>
                                  <p:cTn id="14" dur="1" fill="hold"/>
                                  <p:tgtEl>
                                    <p:spTgt spid="13"/>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build="asOne"/>
      <p:bldGraphic spid="11" grpId="0" build="asOne"/>
      <p:bldGraphic spid="12" grpId="0" build="asOne"/>
      <p:bldGraphic spid="13" grpId="0" build="asOne"/>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0" y="-1645920"/>
            <a:ext cx="5486400" cy="4114800"/>
          </a:xfrm>
          <a:prstGeom prst="ellipse">
            <a:avLst/>
          </a:prstGeom>
          <a:solidFill>
            <a:srgbClr val="10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371600" y="4572000"/>
            <a:ext cx="4572000" cy="3657600"/>
          </a:xfrm>
          <a:prstGeom prst="ellipse">
            <a:avLst/>
          </a:prstGeom>
          <a:solidFill>
            <a:srgbClr val="0D1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347472"/>
            <a:ext cx="3108960" cy="347472"/>
          </a:xfrm>
          <a:prstGeom prst="roundRect">
            <a:avLst/>
          </a:prstGeom>
          <a:solidFill>
            <a:srgbClr val="1A263E"/>
          </a:solidFill>
          <a:ln w="17780">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400"/>
              </a:spcAft>
            </a:pPr>
            <a:r>
              <a:rPr sz="1000" b="1" i="0">
                <a:solidFill>
                  <a:srgbClr val="FFB703"/>
                </a:solidFill>
                <a:latin typeface="Segoe UI"/>
                <a:cs typeface="Segoe UI"/>
              </a:rPr>
              <a:t>✦  STEP-BY-STEP FLOW</a:t>
            </a:r>
          </a:p>
        </p:txBody>
      </p:sp>
      <p:sp>
        <p:nvSpPr>
          <p:cNvPr id="6" name="TextBox 5"/>
          <p:cNvSpPr txBox="1"/>
          <p:nvPr/>
        </p:nvSpPr>
        <p:spPr>
          <a:xfrm>
            <a:off x="731520" y="749808"/>
            <a:ext cx="10728655" cy="777240"/>
          </a:xfrm>
          <a:prstGeom prst="rect">
            <a:avLst/>
          </a:prstGeom>
          <a:noFill/>
        </p:spPr>
        <p:txBody>
          <a:bodyPr wrap="square" lIns="45720">
            <a:spAutoFit/>
          </a:bodyPr>
          <a:lstStyle/>
          <a:p>
            <a:pPr algn="l">
              <a:spcAft>
                <a:spcPts val="400"/>
              </a:spcAft>
            </a:pPr>
            <a:r>
              <a:rPr sz="2600" b="1" i="0">
                <a:solidFill>
                  <a:srgbClr val="FFFFFF"/>
                </a:solidFill>
                <a:latin typeface="Segoe UI"/>
                <a:cs typeface="Segoe UI"/>
              </a:rPr>
              <a:t>4-Step Recitation Protocol: How to Identify &amp; Apply</a:t>
            </a:r>
          </a:p>
        </p:txBody>
      </p:sp>
      <p:sp>
        <p:nvSpPr>
          <p:cNvPr id="7" name="Rectangle 6"/>
          <p:cNvSpPr/>
          <p:nvPr/>
        </p:nvSpPr>
        <p:spPr>
          <a:xfrm>
            <a:off x="731520" y="1508760"/>
            <a:ext cx="10728655" cy="22860"/>
          </a:xfrm>
          <a:prstGeom prst="rect">
            <a:avLst/>
          </a:prstGeom>
          <a:solidFill>
            <a:srgbClr val="2A3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499616"/>
            <a:ext cx="2011680" cy="36576"/>
          </a:xfrm>
          <a:prstGeom prst="rect">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2011680"/>
            <a:ext cx="2407843" cy="4114800"/>
          </a:xfrm>
          <a:prstGeom prst="roundRect">
            <a:avLst/>
          </a:prstGeom>
          <a:solidFill>
            <a:srgbClr val="131D31"/>
          </a:solidFill>
          <a:ln w="19050">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l">
              <a:spcAft>
                <a:spcPts val="400"/>
              </a:spcAft>
            </a:pPr>
            <a:r>
              <a:rPr sz="1200" b="1" i="0">
                <a:solidFill>
                  <a:srgbClr val="FFB703"/>
                </a:solidFill>
                <a:latin typeface="Segoe UI"/>
                <a:cs typeface="Segoe UI"/>
              </a:rPr>
              <a:t>STEP 01</a:t>
            </a:r>
          </a:p>
          <a:p>
            <a:pPr algn="l">
              <a:spcAft>
                <a:spcPts val="600"/>
              </a:spcAft>
            </a:pPr>
            <a:r>
              <a:rPr sz="1600" b="1" i="0">
                <a:solidFill>
                  <a:srgbClr val="FFFFFF"/>
                </a:solidFill>
                <a:latin typeface="Segoe UI"/>
                <a:cs typeface="Segoe UI"/>
              </a:rPr>
              <a:t>1. Identify Marker</a:t>
            </a:r>
          </a:p>
          <a:p>
            <a:pPr algn="l">
              <a:spcAft>
                <a:spcPts val="600"/>
              </a:spcAft>
            </a:pPr>
            <a:r>
              <a:rPr sz="1300" b="0" i="0">
                <a:solidFill>
                  <a:srgbClr val="CBD5E1"/>
                </a:solidFill>
                <a:latin typeface="Segoe UI"/>
                <a:cs typeface="Segoe UI"/>
              </a:rPr>
              <a:t>Spot unvoweled Noon (نْ) or Tanween (ً ٍ ٌ) at the end of a word.</a:t>
            </a:r>
          </a:p>
          <a:p>
            <a:pPr algn="l">
              <a:spcAft>
                <a:spcPts val="400"/>
              </a:spcAft>
            </a:pPr>
            <a:r>
              <a:rPr sz="1200" b="0" i="0">
                <a:solidFill>
                  <a:srgbClr val="38BDF8"/>
                </a:solidFill>
                <a:latin typeface="Segoe UI"/>
                <a:cs typeface="Segoe UI"/>
              </a:rPr>
              <a:t>💡 Look for Sukoon or Tanween sign</a:t>
            </a:r>
          </a:p>
        </p:txBody>
      </p:sp>
      <p:sp>
        <p:nvSpPr>
          <p:cNvPr id="10" name="Rounded Rectangle 9"/>
          <p:cNvSpPr/>
          <p:nvPr/>
        </p:nvSpPr>
        <p:spPr>
          <a:xfrm>
            <a:off x="3413683" y="2011680"/>
            <a:ext cx="2407843" cy="4114800"/>
          </a:xfrm>
          <a:prstGeom prst="roundRect">
            <a:avLst/>
          </a:prstGeom>
          <a:solidFill>
            <a:srgbClr val="131D31"/>
          </a:solidFill>
          <a:ln w="19050">
            <a:solidFill>
              <a:srgbClr val="2A3F5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l">
              <a:spcAft>
                <a:spcPts val="400"/>
              </a:spcAft>
            </a:pPr>
            <a:r>
              <a:rPr sz="1200" b="1" i="0">
                <a:solidFill>
                  <a:srgbClr val="FFB703"/>
                </a:solidFill>
                <a:latin typeface="Segoe UI"/>
                <a:cs typeface="Segoe UI"/>
              </a:rPr>
              <a:t>STEP 02</a:t>
            </a:r>
          </a:p>
          <a:p>
            <a:pPr algn="l">
              <a:spcAft>
                <a:spcPts val="600"/>
              </a:spcAft>
            </a:pPr>
            <a:r>
              <a:rPr sz="1600" b="1" i="0">
                <a:solidFill>
                  <a:srgbClr val="FFFFFF"/>
                </a:solidFill>
                <a:latin typeface="Segoe UI"/>
                <a:cs typeface="Segoe UI"/>
              </a:rPr>
              <a:t>2. Inspect Next Letter</a:t>
            </a:r>
          </a:p>
          <a:p>
            <a:pPr algn="l">
              <a:spcAft>
                <a:spcPts val="600"/>
              </a:spcAft>
            </a:pPr>
            <a:r>
              <a:rPr sz="1300" b="0" i="0">
                <a:solidFill>
                  <a:srgbClr val="CBD5E1"/>
                </a:solidFill>
                <a:latin typeface="Segoe UI"/>
                <a:cs typeface="Segoe UI"/>
              </a:rPr>
              <a:t>Check if the first letter of the following word is in « يَرْمَلُون ».</a:t>
            </a:r>
          </a:p>
          <a:p>
            <a:pPr algn="r" rtl="1">
              <a:spcAft>
                <a:spcPts val="400"/>
              </a:spcAft>
            </a:pPr>
            <a:r>
              <a:rPr sz="1200" b="0" i="0">
                <a:solidFill>
                  <a:srgbClr val="38BDF8"/>
                </a:solidFill>
                <a:latin typeface="Segoe UI"/>
                <a:cs typeface="Dubai"/>
              </a:rPr>
              <a:t>💡 Letters: [ي، ر، م، ل، و، ن]</a:t>
            </a:r>
          </a:p>
        </p:txBody>
      </p:sp>
      <p:sp>
        <p:nvSpPr>
          <p:cNvPr id="11" name="Rounded Rectangle 10"/>
          <p:cNvSpPr/>
          <p:nvPr/>
        </p:nvSpPr>
        <p:spPr>
          <a:xfrm>
            <a:off x="6095847" y="2011680"/>
            <a:ext cx="2407843" cy="4114800"/>
          </a:xfrm>
          <a:prstGeom prst="roundRect">
            <a:avLst/>
          </a:prstGeom>
          <a:solidFill>
            <a:srgbClr val="131D31"/>
          </a:solidFill>
          <a:ln w="19050">
            <a:solidFill>
              <a:srgbClr val="2A3F5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l">
              <a:spcAft>
                <a:spcPts val="400"/>
              </a:spcAft>
            </a:pPr>
            <a:r>
              <a:rPr sz="1200" b="1" i="0">
                <a:solidFill>
                  <a:srgbClr val="FFB703"/>
                </a:solidFill>
                <a:latin typeface="Segoe UI"/>
                <a:cs typeface="Segoe UI"/>
              </a:rPr>
              <a:t>STEP 03</a:t>
            </a:r>
          </a:p>
          <a:p>
            <a:pPr algn="l">
              <a:spcAft>
                <a:spcPts val="600"/>
              </a:spcAft>
            </a:pPr>
            <a:r>
              <a:rPr sz="1600" b="1" i="0">
                <a:solidFill>
                  <a:srgbClr val="FFFFFF"/>
                </a:solidFill>
                <a:latin typeface="Segoe UI"/>
                <a:cs typeface="Segoe UI"/>
              </a:rPr>
              <a:t>3. Classify Category</a:t>
            </a:r>
          </a:p>
          <a:p>
            <a:pPr algn="l">
              <a:spcAft>
                <a:spcPts val="600"/>
              </a:spcAft>
            </a:pPr>
            <a:r>
              <a:rPr sz="1300" b="0" i="0">
                <a:solidFill>
                  <a:srgbClr val="CBD5E1"/>
                </a:solidFill>
                <a:latin typeface="Segoe UI"/>
                <a:cs typeface="Segoe UI"/>
              </a:rPr>
              <a:t>If in « يَنْمُو » hold 2 counts Ghunnah; if [ر، ل] merge swiftly with no Ghunnah.</a:t>
            </a:r>
          </a:p>
          <a:p>
            <a:pPr algn="l">
              <a:spcAft>
                <a:spcPts val="400"/>
              </a:spcAft>
            </a:pPr>
            <a:r>
              <a:rPr sz="1200" b="0" i="0">
                <a:solidFill>
                  <a:srgbClr val="38BDF8"/>
                </a:solidFill>
                <a:latin typeface="Segoe UI"/>
                <a:cs typeface="Segoe UI"/>
              </a:rPr>
              <a:t>💡 With Ghunnah vs Without</a:t>
            </a:r>
          </a:p>
        </p:txBody>
      </p:sp>
      <p:sp>
        <p:nvSpPr>
          <p:cNvPr id="12" name="Rounded Rectangle 11"/>
          <p:cNvSpPr/>
          <p:nvPr/>
        </p:nvSpPr>
        <p:spPr>
          <a:xfrm>
            <a:off x="8778011" y="2011680"/>
            <a:ext cx="2407843" cy="4114800"/>
          </a:xfrm>
          <a:prstGeom prst="roundRect">
            <a:avLst/>
          </a:prstGeom>
          <a:solidFill>
            <a:srgbClr val="131D31"/>
          </a:solidFill>
          <a:ln w="19050">
            <a:solidFill>
              <a:srgbClr val="2A3F5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l">
              <a:spcAft>
                <a:spcPts val="400"/>
              </a:spcAft>
            </a:pPr>
            <a:r>
              <a:rPr sz="1200" b="1" i="0">
                <a:solidFill>
                  <a:srgbClr val="FFB703"/>
                </a:solidFill>
                <a:latin typeface="Segoe UI"/>
                <a:cs typeface="Segoe UI"/>
              </a:rPr>
              <a:t>STEP 04</a:t>
            </a:r>
          </a:p>
          <a:p>
            <a:pPr algn="l">
              <a:spcAft>
                <a:spcPts val="600"/>
              </a:spcAft>
            </a:pPr>
            <a:r>
              <a:rPr sz="1600" b="1" i="0">
                <a:solidFill>
                  <a:srgbClr val="FFFFFF"/>
                </a:solidFill>
                <a:latin typeface="Segoe UI"/>
                <a:cs typeface="Segoe UI"/>
              </a:rPr>
              <a:t>4. Verify Word Boundary</a:t>
            </a:r>
          </a:p>
          <a:p>
            <a:pPr algn="l">
              <a:spcAft>
                <a:spcPts val="600"/>
              </a:spcAft>
            </a:pPr>
            <a:r>
              <a:rPr sz="1300" b="0" i="0">
                <a:solidFill>
                  <a:srgbClr val="CBD5E1"/>
                </a:solidFill>
                <a:latin typeface="Segoe UI"/>
                <a:cs typeface="Segoe UI"/>
              </a:rPr>
              <a:t>Ensure across two words; remember the 4 Izhar Mutlaq exceptions.</a:t>
            </a:r>
          </a:p>
          <a:p>
            <a:pPr algn="l">
              <a:spcAft>
                <a:spcPts val="400"/>
              </a:spcAft>
            </a:pPr>
            <a:r>
              <a:rPr sz="1200" b="0" i="0">
                <a:solidFill>
                  <a:srgbClr val="38BDF8"/>
                </a:solidFill>
                <a:latin typeface="Segoe UI"/>
                <a:cs typeface="Segoe UI"/>
              </a:rPr>
              <a:t>💡 Dunya, Bunyan, Qinwan, Sinwan</a:t>
            </a:r>
          </a:p>
        </p:txBody>
      </p:sp>
    </p:spTree>
  </p:cSld>
  <p:clrMapOvr>
    <a:masterClrMapping/>
  </p:clrMapOvr>
  <p:transition spd="med">
    <p:fade/>
  </p:transition>
  <p:timing>
    <p:tnLst>
      <p:par>
        <p:cTn id="1" dur="indefinite" restart="always" nodeType="tmRoot">
          <p:childTnLst>
            <p:seq concurrent="1" nextAc="seek">
              <p:cTn id="2" dur="indefinite" nodeType="mainSeq">
                <p:childTnLst>
                  <p:par>
                    <p:cTn id="3" fill="hold">
                      <p:stCondLst>
                        <p:cond delay="0"/>
                      </p:stCondLst>
                      <p:childTnLst>
                        <p:par>
                          <p:cTn id="4" presetID="1" presetClass="entr" presetSubtype="0" fill="hold" nodeType="clickEffect">
                            <p:stCondLst>
                              <p:cond delay="0"/>
                            </p:stCondLst>
                            <p:childTnLst>
                              <p:set>
                                <p:cBhvr>
                                  <p:cTn id="5" dur="1" fill="hold"/>
                                  <p:tgtEl>
                                    <p:spTgt spid="9"/>
                                  </p:tgtEl>
                                  <p:attrNameLst>
                                    <p:attrName>style.visibility</p:attrName>
                                  </p:attrNameLst>
                                </p:cBhvr>
                                <p:to>
                                  <p:strVal val="visible"/>
                                </p:to>
                              </p:set>
                            </p:childTnLst>
                          </p:cTn>
                        </p:par>
                      </p:childTnLst>
                    </p:cTn>
                  </p:par>
                  <p:par>
                    <p:cTn id="6" fill="hold">
                      <p:stCondLst>
                        <p:cond delay="0"/>
                      </p:stCondLst>
                      <p:childTnLst>
                        <p:par>
                          <p:cTn id="7" presetID="1" presetClass="entr" presetSubtype="0" fill="hold" nodeType="clickEffect">
                            <p:stCondLst>
                              <p:cond delay="0"/>
                            </p:stCondLst>
                            <p:childTnLst>
                              <p:set>
                                <p:cBhvr>
                                  <p:cTn id="8" dur="1" fill="hold"/>
                                  <p:tgtEl>
                                    <p:spTgt spid="10"/>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nodeType="clickEffect">
                            <p:stCondLst>
                              <p:cond delay="0"/>
                            </p:stCondLst>
                            <p:childTnLst>
                              <p:set>
                                <p:cBhvr>
                                  <p:cTn id="11" dur="1" fill="hold"/>
                                  <p:tgtEl>
                                    <p:spTgt spid="11"/>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nodeType="clickEffect">
                            <p:stCondLst>
                              <p:cond delay="0"/>
                            </p:stCondLst>
                            <p:childTnLst>
                              <p:set>
                                <p:cBhvr>
                                  <p:cTn id="14" dur="1" fill="hold"/>
                                  <p:tgtEl>
                                    <p:spTgt spid="12"/>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build="asOne"/>
      <p:bldGraphic spid="10" grpId="0" build="asOne"/>
      <p:bldGraphic spid="11" grpId="0" build="asOne"/>
      <p:bldGraphic spid="12" grpId="0" build="asOne"/>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0" y="-1645920"/>
            <a:ext cx="5486400" cy="4114800"/>
          </a:xfrm>
          <a:prstGeom prst="ellipse">
            <a:avLst/>
          </a:prstGeom>
          <a:solidFill>
            <a:srgbClr val="10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371600" y="4572000"/>
            <a:ext cx="4572000" cy="3657600"/>
          </a:xfrm>
          <a:prstGeom prst="ellipse">
            <a:avLst/>
          </a:prstGeom>
          <a:solidFill>
            <a:srgbClr val="0D1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347472"/>
            <a:ext cx="3108960" cy="347472"/>
          </a:xfrm>
          <a:prstGeom prst="roundRect">
            <a:avLst/>
          </a:prstGeom>
          <a:solidFill>
            <a:srgbClr val="1A263E"/>
          </a:solidFill>
          <a:ln w="17780">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400"/>
              </a:spcAft>
            </a:pPr>
            <a:r>
              <a:rPr sz="1000" b="1" i="0">
                <a:solidFill>
                  <a:srgbClr val="FFB703"/>
                </a:solidFill>
                <a:latin typeface="Segoe UI"/>
                <a:cs typeface="Segoe UI"/>
              </a:rPr>
              <a:t>✦  STEP-BY-STEP FLOW</a:t>
            </a:r>
          </a:p>
        </p:txBody>
      </p:sp>
      <p:sp>
        <p:nvSpPr>
          <p:cNvPr id="6" name="TextBox 5"/>
          <p:cNvSpPr txBox="1"/>
          <p:nvPr/>
        </p:nvSpPr>
        <p:spPr>
          <a:xfrm>
            <a:off x="731520" y="749808"/>
            <a:ext cx="10728655" cy="777240"/>
          </a:xfrm>
          <a:prstGeom prst="rect">
            <a:avLst/>
          </a:prstGeom>
          <a:noFill/>
        </p:spPr>
        <p:txBody>
          <a:bodyPr wrap="square" lIns="45720">
            <a:spAutoFit/>
          </a:bodyPr>
          <a:lstStyle/>
          <a:p>
            <a:pPr algn="l">
              <a:spcAft>
                <a:spcPts val="400"/>
              </a:spcAft>
            </a:pPr>
            <a:r>
              <a:rPr sz="2600" b="1" i="0">
                <a:solidFill>
                  <a:srgbClr val="FFFFFF"/>
                </a:solidFill>
                <a:latin typeface="Segoe UI"/>
                <a:cs typeface="Segoe UI"/>
              </a:rPr>
              <a:t>Classroom Practice Drill: Test Your Tajweed Mastery</a:t>
            </a:r>
          </a:p>
        </p:txBody>
      </p:sp>
      <p:sp>
        <p:nvSpPr>
          <p:cNvPr id="7" name="Rectangle 6"/>
          <p:cNvSpPr/>
          <p:nvPr/>
        </p:nvSpPr>
        <p:spPr>
          <a:xfrm>
            <a:off x="731520" y="1508760"/>
            <a:ext cx="10728655" cy="22860"/>
          </a:xfrm>
          <a:prstGeom prst="rect">
            <a:avLst/>
          </a:prstGeom>
          <a:solidFill>
            <a:srgbClr val="2A3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499616"/>
            <a:ext cx="2011680" cy="36576"/>
          </a:xfrm>
          <a:prstGeom prst="rect">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2011680"/>
            <a:ext cx="2407843" cy="4114800"/>
          </a:xfrm>
          <a:prstGeom prst="roundRect">
            <a:avLst/>
          </a:prstGeom>
          <a:solidFill>
            <a:srgbClr val="131D31"/>
          </a:solidFill>
          <a:ln w="19050">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l">
              <a:spcAft>
                <a:spcPts val="400"/>
              </a:spcAft>
            </a:pPr>
            <a:r>
              <a:rPr sz="1200" b="1" i="0">
                <a:solidFill>
                  <a:srgbClr val="FFB703"/>
                </a:solidFill>
                <a:latin typeface="Segoe UI"/>
                <a:cs typeface="Segoe UI"/>
              </a:rPr>
              <a:t>STEP 01</a:t>
            </a:r>
          </a:p>
          <a:p>
            <a:pPr algn="r" rtl="1">
              <a:spcAft>
                <a:spcPts val="600"/>
              </a:spcAft>
            </a:pPr>
            <a:r>
              <a:rPr sz="1600" b="1" i="0">
                <a:solidFill>
                  <a:srgbClr val="FFFFFF"/>
                </a:solidFill>
                <a:latin typeface="Segoe UI"/>
                <a:cs typeface="Dubai"/>
              </a:rPr>
              <a:t>« فَمَن يَعْمَلْ »</a:t>
            </a:r>
          </a:p>
          <a:p>
            <a:pPr algn="l">
              <a:spcAft>
                <a:spcPts val="600"/>
              </a:spcAft>
            </a:pPr>
            <a:r>
              <a:rPr sz="1300" b="0" i="0">
                <a:solidFill>
                  <a:srgbClr val="CBD5E1"/>
                </a:solidFill>
                <a:latin typeface="Segoe UI"/>
                <a:cs typeface="Segoe UI"/>
              </a:rPr>
              <a:t>Noon Sakinah followed by letter [ ي ] ➔ Idgham with Ghunnah (2 counts).</a:t>
            </a:r>
          </a:p>
          <a:p>
            <a:pPr algn="l">
              <a:spcAft>
                <a:spcPts val="400"/>
              </a:spcAft>
            </a:pPr>
            <a:r>
              <a:rPr sz="1200" b="0" i="0">
                <a:solidFill>
                  <a:srgbClr val="38BDF8"/>
                </a:solidFill>
                <a:latin typeface="Segoe UI"/>
                <a:cs typeface="Segoe UI"/>
              </a:rPr>
              <a:t>💡 Recite: 'Famay-ya'mal'</a:t>
            </a:r>
          </a:p>
        </p:txBody>
      </p:sp>
      <p:sp>
        <p:nvSpPr>
          <p:cNvPr id="10" name="Rounded Rectangle 9"/>
          <p:cNvSpPr/>
          <p:nvPr/>
        </p:nvSpPr>
        <p:spPr>
          <a:xfrm>
            <a:off x="3413683" y="2011680"/>
            <a:ext cx="2407843" cy="4114800"/>
          </a:xfrm>
          <a:prstGeom prst="roundRect">
            <a:avLst/>
          </a:prstGeom>
          <a:solidFill>
            <a:srgbClr val="131D31"/>
          </a:solidFill>
          <a:ln w="19050">
            <a:solidFill>
              <a:srgbClr val="2A3F5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l">
              <a:spcAft>
                <a:spcPts val="400"/>
              </a:spcAft>
            </a:pPr>
            <a:r>
              <a:rPr sz="1200" b="1" i="0">
                <a:solidFill>
                  <a:srgbClr val="FFB703"/>
                </a:solidFill>
                <a:latin typeface="Segoe UI"/>
                <a:cs typeface="Segoe UI"/>
              </a:rPr>
              <a:t>STEP 02</a:t>
            </a:r>
          </a:p>
          <a:p>
            <a:pPr algn="r" rtl="1">
              <a:spcAft>
                <a:spcPts val="600"/>
              </a:spcAft>
            </a:pPr>
            <a:r>
              <a:rPr sz="1600" b="1" i="0">
                <a:solidFill>
                  <a:srgbClr val="FFFFFF"/>
                </a:solidFill>
                <a:latin typeface="Segoe UI"/>
                <a:cs typeface="Dubai"/>
              </a:rPr>
              <a:t>« مِن رَّبِّهِمْ »</a:t>
            </a:r>
          </a:p>
          <a:p>
            <a:pPr algn="l">
              <a:spcAft>
                <a:spcPts val="600"/>
              </a:spcAft>
            </a:pPr>
            <a:r>
              <a:rPr sz="1300" b="0" i="0">
                <a:solidFill>
                  <a:srgbClr val="CBD5E1"/>
                </a:solidFill>
                <a:latin typeface="Segoe UI"/>
                <a:cs typeface="Segoe UI"/>
              </a:rPr>
              <a:t>Noon Sakinah followed by letter [ ر ] ➔ Idgham without Ghunnah (rapid transition).</a:t>
            </a:r>
          </a:p>
          <a:p>
            <a:pPr algn="l">
              <a:spcAft>
                <a:spcPts val="400"/>
              </a:spcAft>
            </a:pPr>
            <a:r>
              <a:rPr sz="1200" b="0" i="0">
                <a:solidFill>
                  <a:srgbClr val="38BDF8"/>
                </a:solidFill>
                <a:latin typeface="Segoe UI"/>
                <a:cs typeface="Segoe UI"/>
              </a:rPr>
              <a:t>💡 Recite: 'Mir-rabbihim'</a:t>
            </a:r>
          </a:p>
        </p:txBody>
      </p:sp>
      <p:sp>
        <p:nvSpPr>
          <p:cNvPr id="11" name="Rounded Rectangle 10"/>
          <p:cNvSpPr/>
          <p:nvPr/>
        </p:nvSpPr>
        <p:spPr>
          <a:xfrm>
            <a:off x="6095847" y="2011680"/>
            <a:ext cx="2407843" cy="4114800"/>
          </a:xfrm>
          <a:prstGeom prst="roundRect">
            <a:avLst/>
          </a:prstGeom>
          <a:solidFill>
            <a:srgbClr val="131D31"/>
          </a:solidFill>
          <a:ln w="19050">
            <a:solidFill>
              <a:srgbClr val="2A3F5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l">
              <a:spcAft>
                <a:spcPts val="400"/>
              </a:spcAft>
            </a:pPr>
            <a:r>
              <a:rPr sz="1200" b="1" i="0">
                <a:solidFill>
                  <a:srgbClr val="FFB703"/>
                </a:solidFill>
                <a:latin typeface="Segoe UI"/>
                <a:cs typeface="Segoe UI"/>
              </a:rPr>
              <a:t>STEP 03</a:t>
            </a:r>
          </a:p>
          <a:p>
            <a:pPr algn="r" rtl="1">
              <a:spcAft>
                <a:spcPts val="600"/>
              </a:spcAft>
            </a:pPr>
            <a:r>
              <a:rPr sz="1600" b="1" i="0">
                <a:solidFill>
                  <a:srgbClr val="FFFFFF"/>
                </a:solidFill>
                <a:latin typeface="Segoe UI"/>
                <a:cs typeface="Dubai"/>
              </a:rPr>
              <a:t>« هُدًى لِّلْمُتَّقِينَ »</a:t>
            </a:r>
          </a:p>
          <a:p>
            <a:pPr algn="l">
              <a:spcAft>
                <a:spcPts val="600"/>
              </a:spcAft>
            </a:pPr>
            <a:r>
              <a:rPr sz="1300" b="0" i="0">
                <a:solidFill>
                  <a:srgbClr val="CBD5E1"/>
                </a:solidFill>
                <a:latin typeface="Segoe UI"/>
                <a:cs typeface="Segoe UI"/>
              </a:rPr>
              <a:t>Tanween followed by letter [ ل ] ➔ Idgham without Ghunnah into doubled Lam.</a:t>
            </a:r>
          </a:p>
          <a:p>
            <a:pPr algn="l">
              <a:spcAft>
                <a:spcPts val="400"/>
              </a:spcAft>
            </a:pPr>
            <a:r>
              <a:rPr sz="1200" b="0" i="0">
                <a:solidFill>
                  <a:srgbClr val="38BDF8"/>
                </a:solidFill>
                <a:latin typeface="Segoe UI"/>
                <a:cs typeface="Segoe UI"/>
              </a:rPr>
              <a:t>💡 Recite: 'Hudal-lil-muttaqeen'</a:t>
            </a:r>
          </a:p>
        </p:txBody>
      </p:sp>
      <p:sp>
        <p:nvSpPr>
          <p:cNvPr id="12" name="Rounded Rectangle 11"/>
          <p:cNvSpPr/>
          <p:nvPr/>
        </p:nvSpPr>
        <p:spPr>
          <a:xfrm>
            <a:off x="8778011" y="2011680"/>
            <a:ext cx="2407843" cy="4114800"/>
          </a:xfrm>
          <a:prstGeom prst="roundRect">
            <a:avLst/>
          </a:prstGeom>
          <a:solidFill>
            <a:srgbClr val="131D31"/>
          </a:solidFill>
          <a:ln w="19050">
            <a:solidFill>
              <a:srgbClr val="2A3F5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l">
              <a:spcAft>
                <a:spcPts val="400"/>
              </a:spcAft>
            </a:pPr>
            <a:r>
              <a:rPr sz="1200" b="1" i="0">
                <a:solidFill>
                  <a:srgbClr val="FFB703"/>
                </a:solidFill>
                <a:latin typeface="Segoe UI"/>
                <a:cs typeface="Segoe UI"/>
              </a:rPr>
              <a:t>STEP 04</a:t>
            </a:r>
          </a:p>
          <a:p>
            <a:pPr algn="r" rtl="1">
              <a:spcAft>
                <a:spcPts val="600"/>
              </a:spcAft>
            </a:pPr>
            <a:r>
              <a:rPr sz="1600" b="1" i="0">
                <a:solidFill>
                  <a:srgbClr val="FFFFFF"/>
                </a:solidFill>
                <a:latin typeface="Segoe UI"/>
                <a:cs typeface="Dubai"/>
              </a:rPr>
              <a:t>« صِنْوَانٌ وَغَيْرُ صِنْوَانٍ »</a:t>
            </a:r>
          </a:p>
          <a:p>
            <a:pPr algn="l">
              <a:spcAft>
                <a:spcPts val="600"/>
              </a:spcAft>
            </a:pPr>
            <a:r>
              <a:rPr sz="1300" b="0" i="0">
                <a:solidFill>
                  <a:srgbClr val="CBD5E1"/>
                </a:solidFill>
                <a:latin typeface="Segoe UI"/>
                <a:cs typeface="Segoe UI"/>
              </a:rPr>
              <a:t>Noon Sakinah followed by [ و ] in ONE word ➔ Izhar Mutlaq (No Idgham!).</a:t>
            </a:r>
          </a:p>
          <a:p>
            <a:pPr algn="l">
              <a:spcAft>
                <a:spcPts val="400"/>
              </a:spcAft>
            </a:pPr>
            <a:r>
              <a:rPr sz="1200" b="0" i="0">
                <a:solidFill>
                  <a:srgbClr val="38BDF8"/>
                </a:solidFill>
                <a:latin typeface="Segoe UI"/>
                <a:cs typeface="Segoe UI"/>
              </a:rPr>
              <a:t>💡 Recite: 'Sin-waa-nun' clearly</a:t>
            </a:r>
          </a:p>
        </p:txBody>
      </p:sp>
    </p:spTree>
  </p:cSld>
  <p:clrMapOvr>
    <a:masterClrMapping/>
  </p:clrMapOvr>
  <p:transition spd="med">
    <p:fade/>
  </p:transition>
  <p:timing>
    <p:tnLst>
      <p:par>
        <p:cTn id="1" dur="indefinite" restart="always" nodeType="tmRoot">
          <p:childTnLst>
            <p:seq concurrent="1" nextAc="seek">
              <p:cTn id="2" dur="indefinite" nodeType="mainSeq">
                <p:childTnLst>
                  <p:par>
                    <p:cTn id="3" fill="hold">
                      <p:stCondLst>
                        <p:cond delay="0"/>
                      </p:stCondLst>
                      <p:childTnLst>
                        <p:par>
                          <p:cTn id="4" presetID="1" presetClass="entr" presetSubtype="0" fill="hold" nodeType="clickEffect">
                            <p:stCondLst>
                              <p:cond delay="0"/>
                            </p:stCondLst>
                            <p:childTnLst>
                              <p:set>
                                <p:cBhvr>
                                  <p:cTn id="5" dur="1" fill="hold"/>
                                  <p:tgtEl>
                                    <p:spTgt spid="9"/>
                                  </p:tgtEl>
                                  <p:attrNameLst>
                                    <p:attrName>style.visibility</p:attrName>
                                  </p:attrNameLst>
                                </p:cBhvr>
                                <p:to>
                                  <p:strVal val="visible"/>
                                </p:to>
                              </p:set>
                            </p:childTnLst>
                          </p:cTn>
                        </p:par>
                      </p:childTnLst>
                    </p:cTn>
                  </p:par>
                  <p:par>
                    <p:cTn id="6" fill="hold">
                      <p:stCondLst>
                        <p:cond delay="0"/>
                      </p:stCondLst>
                      <p:childTnLst>
                        <p:par>
                          <p:cTn id="7" presetID="1" presetClass="entr" presetSubtype="0" fill="hold" nodeType="clickEffect">
                            <p:stCondLst>
                              <p:cond delay="0"/>
                            </p:stCondLst>
                            <p:childTnLst>
                              <p:set>
                                <p:cBhvr>
                                  <p:cTn id="8" dur="1" fill="hold"/>
                                  <p:tgtEl>
                                    <p:spTgt spid="10"/>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nodeType="clickEffect">
                            <p:stCondLst>
                              <p:cond delay="0"/>
                            </p:stCondLst>
                            <p:childTnLst>
                              <p:set>
                                <p:cBhvr>
                                  <p:cTn id="11" dur="1" fill="hold"/>
                                  <p:tgtEl>
                                    <p:spTgt spid="11"/>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nodeType="clickEffect">
                            <p:stCondLst>
                              <p:cond delay="0"/>
                            </p:stCondLst>
                            <p:childTnLst>
                              <p:set>
                                <p:cBhvr>
                                  <p:cTn id="14" dur="1" fill="hold"/>
                                  <p:tgtEl>
                                    <p:spTgt spid="12"/>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build="asOne"/>
      <p:bldGraphic spid="10" grpId="0" build="asOne"/>
      <p:bldGraphic spid="11" grpId="0" build="asOne"/>
      <p:bldGraphic spid="12" grpId="0" build="asOne"/>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0" y="-1645920"/>
            <a:ext cx="5486400" cy="4114800"/>
          </a:xfrm>
          <a:prstGeom prst="ellipse">
            <a:avLst/>
          </a:prstGeom>
          <a:solidFill>
            <a:srgbClr val="10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371600" y="4572000"/>
            <a:ext cx="4572000" cy="3657600"/>
          </a:xfrm>
          <a:prstGeom prst="ellipse">
            <a:avLst/>
          </a:prstGeom>
          <a:solidFill>
            <a:srgbClr val="0D1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931920" y="411480"/>
            <a:ext cx="4327855" cy="347472"/>
          </a:xfrm>
          <a:prstGeom prst="roundRect">
            <a:avLst/>
          </a:prstGeom>
          <a:solidFill>
            <a:srgbClr val="1A263E"/>
          </a:solidFill>
          <a:ln w="15240">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400"/>
              </a:spcAft>
            </a:pPr>
            <a:r>
              <a:rPr sz="1000" b="1" i="0">
                <a:solidFill>
                  <a:srgbClr val="FFB703"/>
                </a:solidFill>
                <a:latin typeface="Segoe UI"/>
                <a:cs typeface="Segoe UI"/>
              </a:rPr>
              <a:t>🌟  JAZAKUM ALLAHU KHAYRAN</a:t>
            </a:r>
          </a:p>
        </p:txBody>
      </p:sp>
      <p:sp>
        <p:nvSpPr>
          <p:cNvPr id="6" name="TextBox 5"/>
          <p:cNvSpPr txBox="1"/>
          <p:nvPr/>
        </p:nvSpPr>
        <p:spPr>
          <a:xfrm>
            <a:off x="914400" y="822960"/>
            <a:ext cx="10362895" cy="594360"/>
          </a:xfrm>
          <a:prstGeom prst="rect">
            <a:avLst/>
          </a:prstGeom>
          <a:noFill/>
        </p:spPr>
        <p:txBody>
          <a:bodyPr wrap="none">
            <a:spAutoFit/>
          </a:bodyPr>
          <a:lstStyle/>
          <a:p>
            <a:pPr algn="ctr">
              <a:spcAft>
                <a:spcPts val="400"/>
              </a:spcAft>
            </a:pPr>
            <a:r>
              <a:rPr sz="2400" b="1" i="0">
                <a:solidFill>
                  <a:srgbClr val="FFFFFF"/>
                </a:solidFill>
                <a:latin typeface="Segoe UI"/>
                <a:cs typeface="Segoe UI"/>
              </a:rPr>
              <a:t>Jazakum Allahu Khayran • Best Wishes</a:t>
            </a:r>
          </a:p>
        </p:txBody>
      </p:sp>
      <p:sp>
        <p:nvSpPr>
          <p:cNvPr id="7" name="Rounded Rectangle 6"/>
          <p:cNvSpPr/>
          <p:nvPr/>
        </p:nvSpPr>
        <p:spPr>
          <a:xfrm>
            <a:off x="1097280" y="1508760"/>
            <a:ext cx="9997135" cy="1280160"/>
          </a:xfrm>
          <a:prstGeom prst="roundRect">
            <a:avLst/>
          </a:prstGeom>
          <a:solidFill>
            <a:srgbClr val="131D31"/>
          </a:solidFill>
          <a:ln w="15240">
            <a:solidFill>
              <a:srgbClr val="2A3F5F"/>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64592" bIns="164592"/>
          <a:lstStyle/>
          <a:p>
            <a:pPr algn="ctr" rtl="1">
              <a:spcAft>
                <a:spcPts val="400"/>
              </a:spcAft>
            </a:pPr>
            <a:r>
              <a:rPr sz="1600" b="1" i="0">
                <a:solidFill>
                  <a:srgbClr val="FFB703"/>
                </a:solidFill>
                <a:latin typeface="Segoe UI"/>
                <a:cs typeface="Dubai"/>
              </a:rPr>
              <a:t>قال رسول الله ﷺ: «خَيْرُكُمْ مَنْ تَعَلَّمَ الْقُرْآنَ وَعَلَّمَهُ»</a:t>
            </a:r>
          </a:p>
          <a:p>
            <a:pPr algn="ctr">
              <a:spcAft>
                <a:spcPts val="400"/>
              </a:spcAft>
            </a:pPr>
            <a:r>
              <a:rPr sz="1300" b="0" i="1">
                <a:solidFill>
                  <a:srgbClr val="38BDF8"/>
                </a:solidFill>
                <a:latin typeface="Segoe UI"/>
                <a:cs typeface="Segoe UI"/>
              </a:rPr>
              <a:t>"The best among you are those who learn the Quran and teach it."</a:t>
            </a:r>
          </a:p>
        </p:txBody>
      </p:sp>
      <p:sp>
        <p:nvSpPr>
          <p:cNvPr id="8" name="Rounded Rectangle 7"/>
          <p:cNvSpPr/>
          <p:nvPr/>
        </p:nvSpPr>
        <p:spPr>
          <a:xfrm>
            <a:off x="1097280" y="2926080"/>
            <a:ext cx="4892040" cy="1645920"/>
          </a:xfrm>
          <a:prstGeom prst="roundRect">
            <a:avLst/>
          </a:prstGeom>
          <a:solidFill>
            <a:srgbClr val="101F3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a:lstStyle/>
          <a:p>
            <a:pPr algn="ctr">
              <a:spcAft>
                <a:spcPts val="400"/>
              </a:spcAft>
            </a:pPr>
            <a:r>
              <a:rPr sz="1100" b="1" i="0">
                <a:solidFill>
                  <a:srgbClr val="10B981"/>
                </a:solidFill>
                <a:latin typeface="Segoe UI"/>
                <a:cs typeface="Segoe UI"/>
              </a:rPr>
              <a:t>📱 WhatsApp Direct &amp; Inquiries</a:t>
            </a:r>
          </a:p>
          <a:p>
            <a:pPr algn="ctr">
              <a:spcAft>
                <a:spcPts val="300"/>
              </a:spcAft>
            </a:pPr>
            <a:r>
              <a:rPr sz="2000" b="1" i="0">
                <a:solidFill>
                  <a:srgbClr val="FFFFFF"/>
                </a:solidFill>
                <a:latin typeface="Segoe UI"/>
                <a:cs typeface="Segoe UI"/>
              </a:rPr>
              <a:t>+201159330109</a:t>
            </a:r>
          </a:p>
          <a:p>
            <a:pPr algn="ctr">
              <a:spcAft>
                <a:spcPts val="400"/>
              </a:spcAft>
            </a:pPr>
            <a:r>
              <a:rPr sz="1100" b="0" i="0">
                <a:solidFill>
                  <a:srgbClr val="CBD5E1"/>
                </a:solidFill>
                <a:latin typeface="Segoe UI"/>
                <a:cs typeface="Segoe UI"/>
              </a:rPr>
              <a:t>For 1-on-1 Sessions &amp; Course Follow-up</a:t>
            </a:r>
          </a:p>
        </p:txBody>
      </p:sp>
      <p:sp>
        <p:nvSpPr>
          <p:cNvPr id="9" name="Rounded Rectangle 8"/>
          <p:cNvSpPr/>
          <p:nvPr/>
        </p:nvSpPr>
        <p:spPr>
          <a:xfrm>
            <a:off x="6202375" y="2926080"/>
            <a:ext cx="4892040" cy="1645920"/>
          </a:xfrm>
          <a:prstGeom prst="roundRect">
            <a:avLst/>
          </a:prstGeom>
          <a:solidFill>
            <a:srgbClr val="101F3C"/>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a:lstStyle/>
          <a:p>
            <a:pPr algn="ctr">
              <a:spcAft>
                <a:spcPts val="400"/>
              </a:spcAft>
            </a:pPr>
            <a:r>
              <a:rPr sz="1100" b="1" i="0">
                <a:solidFill>
                  <a:srgbClr val="38BDF8"/>
                </a:solidFill>
                <a:latin typeface="Segoe UI"/>
                <a:cs typeface="Segoe UI"/>
              </a:rPr>
              <a:t>🌐 Official Facebook Channel</a:t>
            </a:r>
          </a:p>
          <a:p>
            <a:pPr algn="ctr">
              <a:spcAft>
                <a:spcPts val="300"/>
              </a:spcAft>
            </a:pPr>
            <a:r>
              <a:rPr sz="1800" b="1" i="0">
                <a:solidFill>
                  <a:srgbClr val="FFFFFF"/>
                </a:solidFill>
                <a:latin typeface="Segoe UI"/>
                <a:cs typeface="Segoe UI"/>
              </a:rPr>
              <a:t>Mohamed Nasser Badawy</a:t>
            </a:r>
          </a:p>
          <a:p>
            <a:pPr algn="ctr">
              <a:spcAft>
                <a:spcPts val="400"/>
              </a:spcAft>
            </a:pPr>
            <a:r>
              <a:rPr sz="1100" b="0" i="0">
                <a:solidFill>
                  <a:srgbClr val="CBD5E1"/>
                </a:solidFill>
                <a:latin typeface="Segoe UI"/>
                <a:cs typeface="Segoe UI"/>
              </a:rPr>
              <a:t>Follow for Lessons &amp; Live Sessions</a:t>
            </a:r>
          </a:p>
        </p:txBody>
      </p:sp>
      <p:sp>
        <p:nvSpPr>
          <p:cNvPr id="10" name="Rounded Rectangle 9"/>
          <p:cNvSpPr/>
          <p:nvPr/>
        </p:nvSpPr>
        <p:spPr>
          <a:xfrm>
            <a:off x="1097280" y="4709160"/>
            <a:ext cx="9997135" cy="1463040"/>
          </a:xfrm>
          <a:prstGeom prst="roundRect">
            <a:avLst/>
          </a:prstGeom>
          <a:solidFill>
            <a:srgbClr val="1A263E"/>
          </a:solidFill>
          <a:ln w="15240">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wrap="square" lIns="228600" tIns="201168"/>
          <a:lstStyle/>
          <a:p>
            <a:pPr algn="ctr">
              <a:spcAft>
                <a:spcPts val="600"/>
              </a:spcAft>
            </a:pPr>
            <a:r>
              <a:rPr sz="2000" b="1" i="0">
                <a:solidFill>
                  <a:srgbClr val="FFB703"/>
                </a:solidFill>
                <a:latin typeface="Segoe UI"/>
                <a:cs typeface="Segoe UI"/>
              </a:rPr>
              <a:t>MR. Mohamed Nasser Badawy</a:t>
            </a:r>
          </a:p>
          <a:p>
            <a:pPr algn="ctr">
              <a:spcAft>
                <a:spcPts val="400"/>
              </a:spcAft>
            </a:pPr>
            <a:r>
              <a:rPr sz="1300" b="0" i="0">
                <a:solidFill>
                  <a:srgbClr val="CBD5E1"/>
                </a:solidFill>
                <a:latin typeface="Segoe UI"/>
                <a:cs typeface="Segoe UI"/>
              </a:rPr>
              <a:t>Quran, Tajweed &amp; Arabic Instructor for Non-Native Speakers</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