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4023360" cy="4937760"/>
          </a:xfrm>
          <a:prstGeom prst="roundRect">
            <a:avLst/>
          </a:prstGeom>
          <a:solidFill>
            <a:srgbClr val="131D31"/>
          </a:solidFill>
          <a:ln w="2286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05840"/>
            <a:ext cx="6309360" cy="402336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✦  دورة اللغة الإنجليزية المتخصصة • شروحات تفاعلية واحترافية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30936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cs typeface="Segoe UI"/>
              </a:rPr>
              <a:t>Mastering English Verb Tenses &amp; Phrasal Verbs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8BDF8"/>
                </a:solidFill>
                <a:latin typeface="Segoe UI"/>
                <a:cs typeface="Segoe UI"/>
              </a:rPr>
              <a:t>Visual Explanations, Dynamic Cartoons, and Native Fluency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77639"/>
            <a:ext cx="6309360" cy="1920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المُحاضر والمعلم المعتمد</a:t>
            </a:r>
          </a:p>
          <a:p>
            <a:pPr algn="r" rtl="1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✦  محاور الدرس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خريطة الدرس والمحاور الرئيسية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Visual Action Verbs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Cartoon action scenarios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Core meaning &amp; prepositions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Time &amp; Perspective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Present Perfect vs Past Simple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When to use each tense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Tense Matrix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Side-by-side comparison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Key time markers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Fluency Formula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Step-by-step sentence building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Common mistakes to avoid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Present Perfect Tense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ent_perf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/ˈprez.ənt ˈpɜː.fɪkt/ • (have / has + V3)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Connects past actions directly to the present moment. We use it when the exact past time doesn't matter, but the result is visible 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Structure: Subject + have / has + Past Participle (V3).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Keywords: already, just, yet, ever, never, recently, since, for.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Focuses on life experiences and ongoing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I have already finished my assignment, so I can relax!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Phrasal Verb: Look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ok_af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/lʊk ˈɑːf.tər/ • Verb + Preposition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Means to take care of someone or something, providing attention, food, or safety.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Synonyms: Care for, nurse, protect, attend to.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Common collocations: look after children, look after pets, look after yourself.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Inseparable verb: the object comes right after the preposition.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Can you please look after my cat while I am traveling?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مصفوفة المقارنة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Tense Matrix: Present Perfect vs Past Simple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FFB703"/>
                          </a:solidFill>
                          <a:latin typeface="Segoe UI"/>
                          <a:cs typeface="Segoe UI"/>
                        </a:rPr>
                        <a:t>Grammar Dimension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Present Perfect (have + V3)</a:t>
                      </a:r>
                    </a:p>
                  </a:txBody>
                  <a:tcPr anchor="ctr" marL="109728" marR="109728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Past Simple (V2)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Time Connection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Connected to the present; result matters now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Finished action in a completed time period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Time Markers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Already, yet, ever, just, since, for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Yesterday, last year, in 2022, two days ago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Living in London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have lived in London for 5 years (still there)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lived in London in 2018 (not there anymore)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خطوات التطبيق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The 3-Step Native Sentence Builder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Pick the Perspective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Is the result active right now, or completely closed in the past?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Current vs Finished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Select Auxiliary Verb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Use have/has for perfect, or drop directly to V2 for past.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have/has + V3 vs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3956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Add Time Polish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Use natural adverbs like 'already', 'recently', or 'yesterday'.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Place adverb naturally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1920" y="411480"/>
            <a:ext cx="4327855" cy="347472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🌟  بالتوفيق والنجاح الدائم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Dubai"/>
              </a:rPr>
              <a:t>مع تمنياتي لكم بالتفوق والنجاح المستمر دائمًا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08760"/>
            <a:ext cx="9997135" cy="1280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ctr" rtl="1">
              <a:spcAft>
                <a:spcPts val="400"/>
              </a:spcAft>
            </a:pPr>
            <a:r>
              <a:rPr sz="1600" b="1" i="0">
                <a:solidFill>
                  <a:srgbClr val="FFB703"/>
                </a:solidFill>
                <a:latin typeface="Segoe UI"/>
                <a:cs typeface="Dubai"/>
              </a:rPr>
              <a:t>قال رسول الله ﷺ: «خَيْرُكُمْ مَنْ تَعَلَّمَ الْقُرْآنَ وَعَلَّمَهُ»</a:t>
            </a:r>
          </a:p>
          <a:p>
            <a:pPr algn="ctr" rtl="1">
              <a:spcAft>
                <a:spcPts val="400"/>
              </a:spcAft>
            </a:pPr>
            <a:r>
              <a:rPr sz="1300" b="0" i="1">
                <a:solidFill>
                  <a:srgbClr val="38BDF8"/>
                </a:solidFill>
                <a:latin typeface="Segoe UI"/>
                <a:cs typeface="Dubai"/>
              </a:rPr>
              <a:t>«التعلم رحلة مستمرة.. استمر في التدريب والتطبيق دائماً»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📱 واتساب الحصص والمتابعة المباشرة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+201159330109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للتواصل المباشر وحجز الدروس والمراجعات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🌐 الصفحة الرسمية للمتابعة</a:t>
            </a:r>
          </a:p>
          <a:p>
            <a:pPr algn="ctr" rtl="1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تابع أحدث الشروحات والتدريبات اليومية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09160"/>
            <a:ext cx="9997135" cy="146304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/>
          <a:lstStyle/>
          <a:p>
            <a:pPr algn="ctr" rtl="1">
              <a:spcAft>
                <a:spcPts val="600"/>
              </a:spcAft>
            </a:pPr>
            <a:r>
              <a:rPr sz="2200" b="1" i="0">
                <a:solidFill>
                  <a:srgbClr val="FFB703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