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097280"/>
            <a:ext cx="4754880" cy="475488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acher_avata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05840"/>
            <a:ext cx="393192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120640" y="1097280"/>
            <a:ext cx="6217920" cy="438912"/>
          </a:xfrm>
          <a:prstGeom prst="roundRect">
            <a:avLst/>
          </a:prstGeom>
          <a:solidFill>
            <a:srgbClr val="2C3E5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67E22"/>
                </a:solidFill>
                <a:latin typeface="Poppins"/>
              </a:defRPr>
            </a:pPr>
            <a:r>
              <a:t>ENGLISH LANGUAGE SPECIALIZED SERIES • INTERACTIVE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691640"/>
            <a:ext cx="6400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9FA"/>
                </a:solidFill>
                <a:latin typeface="Poppins"/>
              </a:defRPr>
            </a:pPr>
            <a:r>
              <a:t>Mastering English Verb Tenses: Present Perfect &amp; Past Simple</a:t>
            </a:r>
          </a:p>
          <a:p>
            <a:pPr>
              <a:defRPr sz="1600">
                <a:solidFill>
                  <a:srgbClr val="5DADE2"/>
                </a:solidFill>
                <a:latin typeface="Poppins"/>
              </a:defRPr>
            </a:pPr>
            <a:r>
              <a:t>Clear Structures, Natural Examples, and Practical Exercises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3931920"/>
            <a:ext cx="6400800" cy="1828800"/>
          </a:xfrm>
          <a:prstGeom prst="roundRect">
            <a:avLst/>
          </a:prstGeom>
          <a:solidFill>
            <a:srgbClr val="1E2A38"/>
          </a:solidFill>
          <a:ln w="1524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67E22"/>
                </a:solidFill>
                <a:latin typeface="Poppins"/>
              </a:defRPr>
            </a:pPr>
            <a:r>
              <a:t>INSTRUCTOR / المُحاضر</a:t>
            </a:r>
          </a:p>
          <a:p>
            <a:pPr>
              <a:defRPr sz="1800" b="1">
                <a:solidFill>
                  <a:srgbClr val="F8F9FA"/>
                </a:solidFill>
                <a:latin typeface="Poppins"/>
              </a:defRPr>
            </a:pPr>
            <a:r>
              <a:t>MR. Mohamed Nasser Badawy  |  مستر محمد ناصر بدوي</a:t>
            </a:r>
          </a:p>
          <a:p>
            <a:pPr>
              <a:defRPr sz="1300">
                <a:solidFill>
                  <a:srgbClr val="BDC3C7"/>
                </a:solidFill>
                <a:latin typeface="Cairo"/>
              </a:defRPr>
            </a:pPr>
            <a:r>
              <a:t>English Language Teacher - معلم لغة إنجليزية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2C3E5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67E22"/>
                </a:solidFill>
                <a:latin typeface="Poppins"/>
              </a:defRPr>
            </a:pPr>
            <a:r>
              <a:t>MODULE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8F9FA"/>
                </a:solidFill>
                <a:latin typeface="Cairo"/>
              </a:defRPr>
            </a:pPr>
            <a:r>
              <a:t>خريطة الدرس والمحاور الرئيسية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69848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446020" cy="4389120"/>
          </a:xfrm>
          <a:prstGeom prst="roundRect">
            <a:avLst/>
          </a:prstGeom>
          <a:solidFill>
            <a:srgbClr val="1E2A38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67E22"/>
                </a:solidFill>
                <a:latin typeface="Poppins"/>
              </a:defRPr>
            </a:pPr>
            <a:r>
              <a:t>01</a:t>
            </a:r>
          </a:p>
          <a:p>
            <a:pPr>
              <a:defRPr sz="1600" b="1">
                <a:solidFill>
                  <a:srgbClr val="F8F9FA"/>
                </a:solidFill>
                <a:latin typeface="Poppins"/>
              </a:defRPr>
            </a:pPr>
            <a:r>
              <a:t>1. Core Grammar Foundation</a:t>
            </a:r>
          </a:p>
          <a:p>
            <a:pPr>
              <a:defRPr sz="1200">
                <a:solidFill>
                  <a:srgbClr val="BDC3C7"/>
                </a:solidFill>
                <a:latin typeface="Poppins"/>
              </a:defRPr>
            </a:pPr>
            <a:r>
              <a:t>• Sentence mechanics</a:t>
            </a:r>
          </a:p>
          <a:p>
            <a:pPr>
              <a:defRPr sz="1200">
                <a:solidFill>
                  <a:srgbClr val="BDC3C7"/>
                </a:solidFill>
                <a:latin typeface="Poppins"/>
              </a:defRPr>
            </a:pPr>
            <a:r>
              <a:t>• Tense usage &amp; triggers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6139" y="1828800"/>
            <a:ext cx="2446020" cy="4389120"/>
          </a:xfrm>
          <a:prstGeom prst="roundRect">
            <a:avLst/>
          </a:prstGeom>
          <a:solidFill>
            <a:srgbClr val="1E2A38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67E22"/>
                </a:solidFill>
                <a:latin typeface="Poppins"/>
              </a:defRPr>
            </a:pPr>
            <a:r>
              <a:t>02</a:t>
            </a:r>
          </a:p>
          <a:p>
            <a:pPr>
              <a:defRPr sz="1600" b="1">
                <a:solidFill>
                  <a:srgbClr val="F8F9FA"/>
                </a:solidFill>
                <a:latin typeface="Poppins"/>
              </a:defRPr>
            </a:pPr>
            <a:r>
              <a:t>2. Contrast &amp; Nuances</a:t>
            </a:r>
          </a:p>
          <a:p>
            <a:pPr>
              <a:defRPr sz="1200">
                <a:solidFill>
                  <a:srgbClr val="BDC3C7"/>
                </a:solidFill>
                <a:latin typeface="Poppins"/>
              </a:defRPr>
            </a:pPr>
            <a:r>
              <a:t>• Distinguishing tricky patterns</a:t>
            </a:r>
          </a:p>
          <a:p>
            <a:pPr>
              <a:defRPr sz="1200">
                <a:solidFill>
                  <a:srgbClr val="BDC3C7"/>
                </a:solidFill>
                <a:latin typeface="Poppins"/>
              </a:defRPr>
            </a:pPr>
            <a:r>
              <a:t>• Common Arab student pitfalls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59" y="1828800"/>
            <a:ext cx="2446020" cy="4389120"/>
          </a:xfrm>
          <a:prstGeom prst="roundRect">
            <a:avLst/>
          </a:prstGeom>
          <a:solidFill>
            <a:srgbClr val="1E2A38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67E22"/>
                </a:solidFill>
                <a:latin typeface="Poppins"/>
              </a:defRPr>
            </a:pPr>
            <a:r>
              <a:t>03</a:t>
            </a:r>
          </a:p>
          <a:p>
            <a:pPr>
              <a:defRPr sz="1600" b="1">
                <a:solidFill>
                  <a:srgbClr val="F8F9FA"/>
                </a:solidFill>
                <a:latin typeface="Poppins"/>
              </a:defRPr>
            </a:pPr>
            <a:r>
              <a:t>3. Real-Life Fluency</a:t>
            </a:r>
          </a:p>
          <a:p>
            <a:pPr>
              <a:defRPr sz="1200">
                <a:solidFill>
                  <a:srgbClr val="BDC3C7"/>
                </a:solidFill>
                <a:latin typeface="Poppins"/>
              </a:defRPr>
            </a:pPr>
            <a:r>
              <a:t>• Conversational dialogues</a:t>
            </a:r>
          </a:p>
          <a:p>
            <a:pPr>
              <a:defRPr sz="1200">
                <a:solidFill>
                  <a:srgbClr val="BDC3C7"/>
                </a:solidFill>
                <a:latin typeface="Poppins"/>
              </a:defRPr>
            </a:pPr>
            <a:r>
              <a:t>• Idiomatic expressions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55380" y="1828800"/>
            <a:ext cx="2446020" cy="4389120"/>
          </a:xfrm>
          <a:prstGeom prst="roundRect">
            <a:avLst/>
          </a:prstGeom>
          <a:solidFill>
            <a:srgbClr val="1E2A38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67E22"/>
                </a:solidFill>
                <a:latin typeface="Poppins"/>
              </a:defRPr>
            </a:pPr>
            <a:r>
              <a:t>04</a:t>
            </a:r>
          </a:p>
          <a:p>
            <a:pPr>
              <a:defRPr sz="1600" b="1">
                <a:solidFill>
                  <a:srgbClr val="F8F9FA"/>
                </a:solidFill>
                <a:latin typeface="Poppins"/>
              </a:defRPr>
            </a:pPr>
            <a:r>
              <a:t>4. Interactive Challenges</a:t>
            </a:r>
          </a:p>
          <a:p>
            <a:pPr>
              <a:defRPr sz="1200">
                <a:solidFill>
                  <a:srgbClr val="BDC3C7"/>
                </a:solidFill>
                <a:latin typeface="Poppins"/>
              </a:defRPr>
            </a:pPr>
            <a:r>
              <a:t>• Sentence correction</a:t>
            </a:r>
          </a:p>
          <a:p>
            <a:pPr>
              <a:defRPr sz="1200">
                <a:solidFill>
                  <a:srgbClr val="BDC3C7"/>
                </a:solidFill>
                <a:latin typeface="Poppins"/>
              </a:defRPr>
            </a:pPr>
            <a:r>
              <a:t>• Speaking prompt drills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2C3E5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67E22"/>
                </a:solidFill>
                <a:latin typeface="Poppins"/>
              </a:defRPr>
            </a:pPr>
            <a:r>
              <a:t>CONCEPT &amp;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9FA"/>
                </a:solidFill>
                <a:latin typeface="Poppins"/>
              </a:defRPr>
            </a:pPr>
            <a:r>
              <a:t>Core Grammar Framework &amp; Usage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69848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A38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67E22"/>
                </a:solidFill>
                <a:latin typeface="Poppins"/>
              </a:defRPr>
            </a:pPr>
            <a:r>
              <a:t>The Golden Rule / القاعدة الأساسية</a:t>
            </a:r>
          </a:p>
          <a:p>
            <a:pPr>
              <a:defRPr sz="1400">
                <a:solidFill>
                  <a:srgbClr val="F8F9FA"/>
                </a:solidFill>
                <a:latin typeface="Poppins"/>
              </a:defRPr>
            </a:pPr>
            <a:r>
              <a:t>Every tense communicates both TIME and PERSPECTIVE. Do not translate literally from Arabic; focus on the native English sentence flow.</a:t>
            </a:r>
          </a:p>
          <a:p>
            <a:br/>
            <a:pPr>
              <a:defRPr sz="1300" b="1">
                <a:solidFill>
                  <a:srgbClr val="F39C12"/>
                </a:solidFill>
              </a:defRPr>
            </a:pPr>
            <a:r>
              <a:t>📌 Pro Tip: Subject-Verb Agreement is the backbone of fluency.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303520" cy="2377440"/>
          </a:xfrm>
          <a:prstGeom prst="roundRect">
            <a:avLst/>
          </a:prstGeom>
          <a:solidFill>
            <a:srgbClr val="1E2A38"/>
          </a:solidFill>
          <a:ln w="1524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5DADE2"/>
                </a:solidFill>
              </a:defRPr>
            </a:pPr>
            <a:r>
              <a:t>الشرح والتفاصيل / Detailed Breakdown</a:t>
            </a:r>
          </a:p>
          <a:p>
            <a:pPr>
              <a:defRPr sz="1300">
                <a:solidFill>
                  <a:srgbClr val="F8F9FA"/>
                </a:solidFill>
                <a:latin typeface="Poppins"/>
              </a:defRPr>
            </a:pPr>
            <a:r>
              <a:t>✔  Use clear auxiliary verbs (do/does/did, have/has) for questions and negatives.</a:t>
            </a:r>
          </a:p>
          <a:p>
            <a:pPr>
              <a:defRPr sz="1300">
                <a:solidFill>
                  <a:srgbClr val="F8F9FA"/>
                </a:solidFill>
                <a:latin typeface="Poppins"/>
              </a:defRPr>
            </a:pPr>
            <a:r>
              <a:t>✔  Watch out for irregular verb forms in past narrative contexts.</a:t>
            </a:r>
          </a:p>
          <a:p>
            <a:pPr>
              <a:defRPr sz="1300">
                <a:solidFill>
                  <a:srgbClr val="F8F9FA"/>
                </a:solidFill>
                <a:latin typeface="Poppins"/>
              </a:defRPr>
            </a:pPr>
            <a:r>
              <a:t>✔  Connect spoken sentences with natural linking words (however, moreover, as a result).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389120"/>
            <a:ext cx="5303520" cy="1828800"/>
          </a:xfrm>
          <a:prstGeom prst="roundRect">
            <a:avLst/>
          </a:prstGeom>
          <a:solidFill>
            <a:srgbClr val="0F4C8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ECC71"/>
                </a:solidFill>
              </a:defRPr>
            </a:pPr>
            <a:r>
              <a:t>💡 أمثلة تطبيقية / Practical Examples</a:t>
            </a:r>
          </a:p>
          <a:p>
            <a:pPr>
              <a:defRPr sz="1500" b="1">
                <a:solidFill>
                  <a:srgbClr val="F8F9FA"/>
                </a:solidFill>
              </a:defRPr>
            </a:pPr>
            <a:r>
              <a:t>Correct: 'She has been living here for 3 years.' (NOT: 'She is living since 3 years')</a:t>
            </a:r>
          </a:p>
          <a:p>
            <a:pPr>
              <a:defRPr sz="1200">
                <a:solidFill>
                  <a:srgbClr val="BDC3C7"/>
                </a:solidFill>
              </a:defRPr>
            </a:pPr>
            <a:r>
              <a:t>ملاحظة: We use 'for' with duration, and 'since' with a specific point in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2C3E5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67E22"/>
                </a:solidFill>
                <a:latin typeface="Poppins"/>
              </a:defRPr>
            </a:pPr>
            <a:r>
              <a:t>COMPARISON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9FA"/>
                </a:solidFill>
                <a:latin typeface="Poppins"/>
              </a:defRPr>
            </a:pPr>
            <a:r>
              <a:t>Tense &amp; Pattern Comparison Matrix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69848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82880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E67E22"/>
                          </a:solidFill>
                          <a:latin typeface="Poppins"/>
                        </a:defRPr>
                      </a:pPr>
                      <a:r>
                        <a:t>Grammar Pattern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5DADE2"/>
                          </a:solidFill>
                          <a:latin typeface="Poppins"/>
                        </a:defRPr>
                      </a:pPr>
                      <a:r>
                        <a:t>Present Perfect (have/has + V3)</a:t>
                      </a:r>
                    </a:p>
                  </a:txBody>
                  <a:tcPr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5DADE2"/>
                          </a:solidFill>
                          <a:latin typeface="Poppins"/>
                        </a:defRPr>
                      </a:pPr>
                      <a:r>
                        <a:t>Past Simple (V2)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Time Focus</a:t>
                      </a:r>
                    </a:p>
                  </a:txBody>
                  <a:tcPr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Connection to the present / ongoing relevance</a:t>
                      </a:r>
                    </a:p>
                  </a:txBody>
                  <a:tcPr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Finished action at a specific past time</a:t>
                      </a:r>
                    </a:p>
                  </a:txBody>
                  <a:tcPr anchor="ctr">
                    <a:solidFill>
                      <a:srgbClr val="1E2A38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Time Markers</a:t>
                      </a:r>
                    </a:p>
                  </a:txBody>
                  <a:tcPr anchor="ctr">
                    <a:solidFill>
                      <a:srgbClr val="091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Already, yet, ever, just, recently</a:t>
                      </a:r>
                    </a:p>
                  </a:txBody>
                  <a:tcPr anchor="ctr">
                    <a:solidFill>
                      <a:srgbClr val="091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Yesterday, last year, in 2020, ago</a:t>
                      </a:r>
                    </a:p>
                  </a:txBody>
                  <a:tcPr anchor="ctr">
                    <a:solidFill>
                      <a:srgbClr val="09192B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Example Sentence</a:t>
                      </a:r>
                    </a:p>
                  </a:txBody>
                  <a:tcPr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I have finished my homework (it is done now)</a:t>
                      </a:r>
                    </a:p>
                  </a:txBody>
                  <a:tcPr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I finished my homework yesterday at 8 PM</a:t>
                      </a:r>
                    </a:p>
                  </a:txBody>
                  <a:tcPr anchor="ctr">
                    <a:solidFill>
                      <a:srgbClr val="1E2A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2C3E5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67E22"/>
                </a:solidFill>
                <a:latin typeface="Poppins"/>
              </a:defRPr>
            </a:pPr>
            <a:r>
              <a:t>STEP-BY-STEP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9FA"/>
                </a:solidFill>
                <a:latin typeface="Poppins"/>
              </a:defRPr>
            </a:pPr>
            <a:r>
              <a:t>Step-by-Step Sentence Mastery Formula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69848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1E2A38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67E22"/>
                </a:solidFill>
              </a:defRPr>
            </a:pPr>
            <a:r>
              <a:t>STEP 01</a:t>
            </a:r>
          </a:p>
          <a:p>
            <a:pPr>
              <a:defRPr sz="1600" b="1">
                <a:solidFill>
                  <a:srgbClr val="F8F9FA"/>
                </a:solidFill>
                <a:latin typeface="Poppins"/>
              </a:defRPr>
            </a:pPr>
            <a:r>
              <a:t>1. Anchor the Subject</a:t>
            </a:r>
          </a:p>
          <a:p>
            <a:pPr>
              <a:defRPr sz="1300">
                <a:solidFill>
                  <a:srgbClr val="BDC3C7"/>
                </a:solidFill>
                <a:latin typeface="Poppins"/>
              </a:defRPr>
            </a:pPr>
            <a:r>
              <a:t>Determine singular vs plural immediately.</a:t>
            </a:r>
          </a:p>
          <a:p>
            <a:br/>
            <a:pPr>
              <a:defRPr sz="1200">
                <a:solidFill>
                  <a:srgbClr val="5DADE2"/>
                </a:solidFill>
              </a:defRPr>
            </a:pPr>
            <a:r>
              <a:t>💡 He/She/It vs They/We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3291840" cy="4114800"/>
          </a:xfrm>
          <a:prstGeom prst="roundRect">
            <a:avLst/>
          </a:prstGeom>
          <a:solidFill>
            <a:srgbClr val="1E2A38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67E22"/>
                </a:solidFill>
              </a:defRPr>
            </a:pPr>
            <a:r>
              <a:t>STEP 02</a:t>
            </a:r>
          </a:p>
          <a:p>
            <a:pPr>
              <a:defRPr sz="1600" b="1">
                <a:solidFill>
                  <a:srgbClr val="F8F9FA"/>
                </a:solidFill>
                <a:latin typeface="Poppins"/>
              </a:defRPr>
            </a:pPr>
            <a:r>
              <a:t>2. Select Time Frame</a:t>
            </a:r>
          </a:p>
          <a:p>
            <a:pPr>
              <a:defRPr sz="1300">
                <a:solidFill>
                  <a:srgbClr val="BDC3C7"/>
                </a:solidFill>
                <a:latin typeface="Poppins"/>
              </a:defRPr>
            </a:pPr>
            <a:r>
              <a:t>Check if action is permanent, temporary, or completed.</a:t>
            </a:r>
          </a:p>
          <a:p>
            <a:br/>
            <a:pPr>
              <a:defRPr sz="1200">
                <a:solidFill>
                  <a:srgbClr val="5DADE2"/>
                </a:solidFill>
              </a:defRPr>
            </a:pPr>
            <a:r>
              <a:t>💡 Habit vs In-Progress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011680"/>
            <a:ext cx="3291840" cy="4114800"/>
          </a:xfrm>
          <a:prstGeom prst="roundRect">
            <a:avLst/>
          </a:prstGeom>
          <a:solidFill>
            <a:srgbClr val="1E2A38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67E22"/>
                </a:solidFill>
              </a:defRPr>
            </a:pPr>
            <a:r>
              <a:t>STEP 03</a:t>
            </a:r>
          </a:p>
          <a:p>
            <a:pPr>
              <a:defRPr sz="1600" b="1">
                <a:solidFill>
                  <a:srgbClr val="F8F9FA"/>
                </a:solidFill>
                <a:latin typeface="Poppins"/>
              </a:defRPr>
            </a:pPr>
            <a:r>
              <a:t>3. Check Polish &amp; Linking</a:t>
            </a:r>
          </a:p>
          <a:p>
            <a:pPr>
              <a:defRPr sz="1300">
                <a:solidFill>
                  <a:srgbClr val="BDC3C7"/>
                </a:solidFill>
                <a:latin typeface="Poppins"/>
              </a:defRPr>
            </a:pPr>
            <a:r>
              <a:t>Add adverbs and natural prepositions.</a:t>
            </a:r>
          </a:p>
          <a:p>
            <a:br/>
            <a:pPr>
              <a:defRPr sz="1200">
                <a:solidFill>
                  <a:srgbClr val="5DADE2"/>
                </a:solidFill>
              </a:defRPr>
            </a:pPr>
            <a:r>
              <a:t>💡 fluently, quickly, thoroughly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731520"/>
            <a:ext cx="9448495" cy="5394960"/>
          </a:xfrm>
          <a:prstGeom prst="roundRect">
            <a:avLst/>
          </a:prstGeom>
          <a:solidFill>
            <a:srgbClr val="1E2A38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67E22"/>
                </a:solidFill>
                <a:latin typeface="Poppins"/>
              </a:defRPr>
            </a:pPr>
            <a:r>
              <a:t>Thank You! | بالتوفيق والنجاح الدائم</a:t>
            </a:r>
          </a:p>
          <a:p>
            <a:pPr algn="ctr">
              <a:defRPr sz="1500" i="1">
                <a:solidFill>
                  <a:srgbClr val="5DADE2"/>
                </a:solidFill>
                <a:latin typeface="Cairo"/>
              </a:defRPr>
            </a:pPr>
            <a:r>
              <a:t>"Every expert was once a beginner. Keep practicing, and never stop learning!"</a:t>
            </a:r>
            <a:br/>
            <a:r>
              <a:t>«التعلم رحلة مستمرة.. استمر في التدريب والتطبيق دائماً»</a:t>
            </a:r>
          </a:p>
          <a:p>
            <a:pPr algn="ctr">
              <a:defRPr sz="1300">
                <a:solidFill>
                  <a:srgbClr val="BDC3C7"/>
                </a:solidFill>
                <a:latin typeface="Cairo"/>
              </a:defRPr>
            </a:pPr>
            <a:r>
              <a:t>للتواصل وحجز الحصص الخاصة والمتابعة الدورية / For Private Tutoring &amp; Follow-up: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3474720"/>
            <a:ext cx="3931920" cy="1005840"/>
          </a:xfrm>
          <a:prstGeom prst="roundRect">
            <a:avLst/>
          </a:prstGeom>
          <a:solidFill>
            <a:srgbClr val="0F4C8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ECC71"/>
                </a:solidFill>
              </a:defRPr>
            </a:pPr>
            <a:r>
              <a:t>📱 WhatsApp &amp; Phone / واتساب وهاتف</a:t>
            </a:r>
          </a:p>
          <a:p>
            <a:pPr>
              <a:defRPr sz="1600" b="1">
                <a:solidFill>
                  <a:srgbClr val="F8F9FA"/>
                </a:solidFill>
              </a:defRPr>
            </a:pPr>
            <a:r>
              <a:t>+201159330109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74720"/>
            <a:ext cx="3931920" cy="1005840"/>
          </a:xfrm>
          <a:prstGeom prst="roundRect">
            <a:avLst/>
          </a:prstGeom>
          <a:solidFill>
            <a:srgbClr val="0F4C81"/>
          </a:solidFill>
          <a:ln w="1905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5DADE2"/>
                </a:solidFill>
              </a:defRPr>
            </a:pPr>
            <a:r>
              <a:t>🌐 Facebook Profile / فيسبوك</a:t>
            </a:r>
          </a:p>
          <a:p>
            <a:pPr>
              <a:defRPr sz="1500" b="1">
                <a:solidFill>
                  <a:srgbClr val="F8F9FA"/>
                </a:solidFill>
              </a:defRPr>
            </a:pPr>
            <a:r>
              <a:t>Mohamed Nasser Badawy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4846320"/>
            <a:ext cx="7619695" cy="77724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9FA"/>
                </a:solidFill>
              </a:defRPr>
            </a:pPr>
            <a:r>
              <a:t>MR. Mohamed Nasser Badawy  •  مستر محمد ناصر بدوي</a:t>
            </a:r>
          </a:p>
          <a:p>
            <a:pPr algn="ctr">
              <a:defRPr sz="1100">
                <a:solidFill>
                  <a:srgbClr val="BDC3C7"/>
                </a:solidFill>
              </a:defRPr>
            </a:pPr>
            <a:r>
              <a:t>English Language Teacher | معلم لغة إنجليزية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