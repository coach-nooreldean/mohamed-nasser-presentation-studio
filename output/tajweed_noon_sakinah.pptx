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097280"/>
            <a:ext cx="4754880" cy="47548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97280"/>
            <a:ext cx="6217920" cy="43891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67E22"/>
                </a:solidFill>
                <a:latin typeface="Poppins"/>
              </a:defRPr>
            </a:pPr>
            <a:r>
              <a:t>TAJWEED &amp; QURANIC ARABIC MASTERCLASS • NON-NATIVE SPEAKERS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9164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9FA"/>
                </a:solidFill>
                <a:latin typeface="Poppins"/>
              </a:defRPr>
            </a:pPr>
            <a:r>
              <a:t>Tajweed Masterclass: Rules of Noon Sakinah &amp; Tanween</a:t>
            </a:r>
          </a:p>
          <a:p>
            <a:pPr>
              <a:defRPr sz="1600">
                <a:solidFill>
                  <a:srgbClr val="5DADE2"/>
                </a:solidFill>
                <a:latin typeface="Poppins"/>
              </a:defRPr>
            </a:pPr>
            <a:r>
              <a:t>Accurate Recitation, Makharij &amp; Articulation for Non-Native Speakers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31920"/>
            <a:ext cx="6400800" cy="1828800"/>
          </a:xfrm>
          <a:prstGeom prst="roundRect">
            <a:avLst/>
          </a:prstGeom>
          <a:solidFill>
            <a:srgbClr val="1E2A38"/>
          </a:solidFill>
          <a:ln w="1524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7E22"/>
                </a:solidFill>
                <a:latin typeface="Poppins"/>
              </a:defRPr>
            </a:pPr>
            <a:r>
              <a:t>INSTRUCTOR / المُحاضر</a:t>
            </a:r>
          </a:p>
          <a:p>
            <a:pPr>
              <a:defRPr sz="1800" b="1">
                <a:solidFill>
                  <a:srgbClr val="F8F9FA"/>
                </a:solidFill>
                <a:latin typeface="Poppins"/>
              </a:defRPr>
            </a:pPr>
            <a:r>
              <a:t>MR. Mohamed Nasser Badawy  |  مستر محمد ناصر بدوي</a:t>
            </a:r>
          </a:p>
          <a:p>
            <a:pPr>
              <a:defRPr sz="1300">
                <a:solidFill>
                  <a:srgbClr val="BDC3C7"/>
                </a:solidFill>
                <a:latin typeface="Cairo"/>
              </a:defRPr>
            </a:pPr>
            <a:r>
              <a:t>Quran, Tajweed &amp; Arabic Instructor for Non-Native Speakers</a:t>
            </a:r>
            <a:br/>
            <a:r>
              <a:t>مدرس تجويد ولغة عربية وقرآن للأعاجم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MODULE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Poppins"/>
              </a:defRPr>
            </a:pPr>
            <a:r>
              <a:t>Lesson Roadmap &amp; Core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01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1. Rule Foundations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Linguistic definition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Applied Quranic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6139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02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2. Phonetic Articulation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Makhraj (Point of articulation)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Sifat (Characteristics)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03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3. Comparative Drills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Clear vs Hidden patterns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Common pronunciation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5380" y="1828800"/>
            <a:ext cx="2446020" cy="438912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04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4. Recitation Mastery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Selected Ayat drills</a:t>
            </a:r>
          </a:p>
          <a:p>
            <a:pPr>
              <a:defRPr sz="1200">
                <a:solidFill>
                  <a:srgbClr val="BDC3C7"/>
                </a:solidFill>
                <a:latin typeface="Poppins"/>
              </a:defRPr>
            </a:pPr>
            <a:r>
              <a:t>• Teacher feedback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CONCEPT &amp;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Poppins"/>
              </a:defRPr>
            </a:pPr>
            <a:r>
              <a:t>Core Tajweed Principle &amp; Definition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A3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7E22"/>
                </a:solidFill>
                <a:latin typeface="Poppins"/>
              </a:defRPr>
            </a:pPr>
            <a:r>
              <a:t>حكم التجويد ومفهومه / Core Rule</a:t>
            </a:r>
          </a:p>
          <a:p>
            <a:pPr>
              <a:defRPr sz="1400">
                <a:solidFill>
                  <a:srgbClr val="F8F9FA"/>
                </a:solidFill>
                <a:latin typeface="Poppins"/>
              </a:defRPr>
            </a:pPr>
            <a:r>
              <a:t>Correct articulation requires understanding the exact exit point (Makhraj) of the letter and adhering to the required timing (Ghunnah or Harakat).</a:t>
            </a:r>
          </a:p>
          <a:p>
            <a:br/>
            <a:pPr>
              <a:defRPr sz="1300" b="1">
                <a:solidFill>
                  <a:srgbClr val="F39C12"/>
                </a:solidFill>
              </a:defRPr>
            </a:pPr>
            <a:r>
              <a:t>📌 Golden Principle: Accurate Recitation without Excessive Strain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303520" cy="2377440"/>
          </a:xfrm>
          <a:prstGeom prst="roundRect">
            <a:avLst/>
          </a:prstGeom>
          <a:solidFill>
            <a:srgbClr val="1E2A38"/>
          </a:solidFill>
          <a:ln w="1524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5DADE2"/>
                </a:solidFill>
              </a:defRPr>
            </a:pPr>
            <a:r>
              <a:t>الشرح والتفاصيل / Detailed Breakdown</a:t>
            </a:r>
          </a:p>
          <a:p>
            <a:pPr>
              <a:defRPr sz="1300">
                <a:solidFill>
                  <a:srgbClr val="F8F9FA"/>
                </a:solidFill>
                <a:latin typeface="Poppins"/>
              </a:defRPr>
            </a:pPr>
            <a:r>
              <a:t>✔  Pay attention to the position of the tongue and breath flow.</a:t>
            </a:r>
          </a:p>
          <a:p>
            <a:pPr>
              <a:defRPr sz="1300">
                <a:solidFill>
                  <a:srgbClr val="F8F9FA"/>
                </a:solidFill>
                <a:latin typeface="Poppins"/>
              </a:defRPr>
            </a:pPr>
            <a:r>
              <a:t>✔  Distinguish between light letters (Tarqeeq) and heavy letters (Tafkheem).</a:t>
            </a:r>
          </a:p>
          <a:p>
            <a:pPr>
              <a:defRPr sz="1300">
                <a:solidFill>
                  <a:srgbClr val="F8F9FA"/>
                </a:solidFill>
                <a:latin typeface="Poppins"/>
              </a:defRPr>
            </a:pPr>
            <a:r>
              <a:t>✔  Maintain consistent elongation (Madd) counts throughout the recitation.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389120"/>
            <a:ext cx="5303520" cy="1828800"/>
          </a:xfrm>
          <a:prstGeom prst="roundRect">
            <a:avLst/>
          </a:prstGeom>
          <a:solidFill>
            <a:srgbClr val="0F4C8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💡 أمثلة تطبيقية / Practical Examples</a:t>
            </a:r>
          </a:p>
          <a:p>
            <a:pPr>
              <a:defRPr sz="1500" b="1">
                <a:solidFill>
                  <a:srgbClr val="F8F9FA"/>
                </a:solidFill>
              </a:defRPr>
            </a:pPr>
            <a:r>
              <a:t>﴿مِن بَعْدِ﴾ ➔ Pronounced as Mim Sakinah with Ghunnah (Iqlab).</a:t>
            </a:r>
          </a:p>
          <a:p>
            <a:pPr>
              <a:defRPr sz="1200">
                <a:solidFill>
                  <a:srgbClr val="BDC3C7"/>
                </a:solidFill>
              </a:defRPr>
            </a:pPr>
            <a:r>
              <a:t>ملاحظة: Avoid pressing the lips too tightly when making the Iqlab sound.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COMPARISON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Poppins"/>
              </a:defRPr>
            </a:pPr>
            <a:r>
              <a:t>Comparison &amp; Distinctive Features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E67E22"/>
                          </a:solidFill>
                          <a:latin typeface="Poppins"/>
                        </a:defRPr>
                      </a:pPr>
                      <a:r>
                        <a:t>Rule Aspect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5DADE2"/>
                          </a:solidFill>
                          <a:latin typeface="Cairo"/>
                        </a:defRPr>
                      </a:pPr>
                      <a:r>
                        <a:t>Form / Type A (الإظهار)</a:t>
                      </a:r>
                    </a:p>
                  </a:txBody>
                  <a:tcPr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5DADE2"/>
                          </a:solidFill>
                          <a:latin typeface="Cairo"/>
                        </a:defRPr>
                      </a:pPr>
                      <a:r>
                        <a:t>Form / Type B (الإدغام)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Sound Clarity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Letters are pronounced clearly without Ghunnah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Letters merge into the subsequent letter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Throat vs Lip</a:t>
                      </a:r>
                    </a:p>
                  </a:txBody>
                  <a:tcPr anchor="ctr">
                    <a:solidFill>
                      <a:srgbClr val="091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Cairo"/>
                        </a:defRPr>
                      </a:pPr>
                      <a:r>
                        <a:t>Exit from Throat letters (ء هـ ع ح غ خ)</a:t>
                      </a:r>
                    </a:p>
                  </a:txBody>
                  <a:tcPr anchor="ctr">
                    <a:solidFill>
                      <a:srgbClr val="091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Cairo"/>
                        </a:defRPr>
                      </a:pPr>
                      <a:r>
                        <a:t>Exit with Yanmoo letters (ي ن م و)</a:t>
                      </a:r>
                    </a:p>
                  </a:txBody>
                  <a:tcPr anchor="ctr">
                    <a:solidFill>
                      <a:srgbClr val="09192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Poppins"/>
                        </a:defRPr>
                      </a:pPr>
                      <a:r>
                        <a:t>Application Example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Cairo"/>
                        </a:defRPr>
                      </a:pPr>
                      <a:r>
                        <a:t>﴿مَنْ آمَنَ﴾ - Clear Noon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Cairo"/>
                        </a:defRPr>
                      </a:pPr>
                      <a:r>
                        <a:t>﴿مَن يَقُولُ﴾ - Merged with Ghunnah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560320" cy="347472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  <a:latin typeface="Poppins"/>
              </a:defRPr>
            </a:pPr>
            <a:r>
              <a:t>STEP-BY-STEP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Poppins"/>
              </a:defRPr>
            </a:pPr>
            <a:r>
              <a:t>Three-Step Recitation Accuracy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69848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STEP 01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1. Identify the Sign</a:t>
            </a:r>
          </a:p>
          <a:p>
            <a:pPr>
              <a:defRPr sz="1300">
                <a:solidFill>
                  <a:srgbClr val="BDC3C7"/>
                </a:solidFill>
                <a:latin typeface="Poppins"/>
              </a:defRPr>
            </a:pPr>
            <a:r>
              <a:t>Spot the Sakinah or Tanween followed by the operational letter.</a:t>
            </a:r>
          </a:p>
          <a:p>
            <a:br/>
            <a:pPr>
              <a:defRPr sz="1200">
                <a:solidFill>
                  <a:srgbClr val="5DADE2"/>
                </a:solidFill>
              </a:defRPr>
            </a:pPr>
            <a:r>
              <a:t>💡 Look for the Sukoon symbol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291840" cy="411480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STEP 02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2. Position the Organs</a:t>
            </a:r>
          </a:p>
          <a:p>
            <a:pPr>
              <a:defRPr sz="1300">
                <a:solidFill>
                  <a:srgbClr val="BDC3C7"/>
                </a:solidFill>
                <a:latin typeface="Poppins"/>
              </a:defRPr>
            </a:pPr>
            <a:r>
              <a:t>Place tongue gently at the makhraj before producing the sound.</a:t>
            </a:r>
          </a:p>
          <a:p>
            <a:br/>
            <a:pPr>
              <a:defRPr sz="1200">
                <a:solidFill>
                  <a:srgbClr val="5DADE2"/>
                </a:solidFill>
              </a:defRPr>
            </a:pPr>
            <a:r>
              <a:t>💡 Relax the throat muscles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011680"/>
            <a:ext cx="3291840" cy="4114800"/>
          </a:xfrm>
          <a:prstGeom prst="roundRect">
            <a:avLst/>
          </a:prstGeom>
          <a:solidFill>
            <a:srgbClr val="1E2A3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STEP 03</a:t>
            </a:r>
          </a:p>
          <a:p>
            <a:pPr>
              <a:defRPr sz="1600" b="1">
                <a:solidFill>
                  <a:srgbClr val="F8F9FA"/>
                </a:solidFill>
                <a:latin typeface="Poppins"/>
              </a:defRPr>
            </a:pPr>
            <a:r>
              <a:t>3. Measure Timing</a:t>
            </a:r>
          </a:p>
          <a:p>
            <a:pPr>
              <a:defRPr sz="1300">
                <a:solidFill>
                  <a:srgbClr val="BDC3C7"/>
                </a:solidFill>
                <a:latin typeface="Poppins"/>
              </a:defRPr>
            </a:pPr>
            <a:r>
              <a:t>Count 2 Harakat for Ghunnah or standard vowel length.</a:t>
            </a:r>
          </a:p>
          <a:p>
            <a:br/>
            <a:pPr>
              <a:defRPr sz="1200">
                <a:solidFill>
                  <a:srgbClr val="5DADE2"/>
                </a:solidFill>
              </a:defRPr>
            </a:pPr>
            <a:r>
              <a:t>💡 Listen &amp; imitate teacher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731520"/>
            <a:ext cx="9448495" cy="5394960"/>
          </a:xfrm>
          <a:prstGeom prst="roundRect">
            <a:avLst/>
          </a:prstGeom>
          <a:solidFill>
            <a:srgbClr val="1E2A3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67E22"/>
                </a:solidFill>
                <a:latin typeface="Poppins"/>
              </a:defRPr>
            </a:pPr>
            <a:r>
              <a:t>Jazakum Allahu Khayran | جزاكم الله خيراً</a:t>
            </a:r>
          </a:p>
          <a:p>
            <a:pPr algn="ctr">
              <a:defRPr sz="1500" i="1">
                <a:solidFill>
                  <a:srgbClr val="5DADE2"/>
                </a:solidFill>
                <a:latin typeface="Cairo"/>
              </a:defRPr>
            </a:pPr>
            <a:r>
              <a:t>قال رسول الله ﷺ: «خَيْرُكُمْ مَنْ تَعَلَّمَ الْقُرْآنَ وَعَلَّمَهُ»</a:t>
            </a:r>
            <a:br/>
            <a:r>
              <a:t>"The best among you are those who learn the Quran and teach it."</a:t>
            </a:r>
          </a:p>
          <a:p>
            <a:pPr algn="ctr">
              <a:defRPr sz="1300">
                <a:solidFill>
                  <a:srgbClr val="BDC3C7"/>
                </a:solidFill>
                <a:latin typeface="Cairo"/>
              </a:defRPr>
            </a:pPr>
            <a:r>
              <a:t>للتواصل وحجز الحصص الخاصة والمتابعة الدورية / For Private Tutoring &amp; Follow-up: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474720"/>
            <a:ext cx="3931920" cy="1005840"/>
          </a:xfrm>
          <a:prstGeom prst="roundRect">
            <a:avLst/>
          </a:prstGeom>
          <a:solidFill>
            <a:srgbClr val="0F4C8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ECC71"/>
                </a:solidFill>
              </a:defRPr>
            </a:pPr>
            <a:r>
              <a:t>📱 WhatsApp &amp; Phone / واتساب وهاتف</a:t>
            </a:r>
          </a:p>
          <a:p>
            <a:pPr>
              <a:defRPr sz="1600" b="1">
                <a:solidFill>
                  <a:srgbClr val="F8F9FA"/>
                </a:solidFill>
              </a:defRPr>
            </a:pPr>
            <a:r>
              <a:t>+201159330109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3931920" cy="1005840"/>
          </a:xfrm>
          <a:prstGeom prst="roundRect">
            <a:avLst/>
          </a:prstGeom>
          <a:solidFill>
            <a:srgbClr val="0F4C81"/>
          </a:solidFill>
          <a:ln w="190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5DADE2"/>
                </a:solidFill>
              </a:defRPr>
            </a:pPr>
            <a:r>
              <a:t>🌐 Facebook Profile / فيسبوك</a:t>
            </a:r>
          </a:p>
          <a:p>
            <a:pPr>
              <a:defRPr sz="1500" b="1">
                <a:solidFill>
                  <a:srgbClr val="F8F9FA"/>
                </a:solidFill>
              </a:defRPr>
            </a:pPr>
            <a:r>
              <a:t>Mohamed Nasser Badawy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846320"/>
            <a:ext cx="7619695" cy="77724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9FA"/>
                </a:solidFill>
              </a:defRPr>
            </a:pPr>
            <a:r>
              <a:t>MR. Mohamed Nasser Badawy  •  مستر محمد ناصر بدوي</a:t>
            </a:r>
          </a:p>
          <a:p>
            <a:pPr algn="ctr">
              <a:defRPr sz="1100">
                <a:solidFill>
                  <a:srgbClr val="BDC3C7"/>
                </a:solidFill>
              </a:defRPr>
            </a:pPr>
            <a:r>
              <a:t>Quran, Tajweed &amp; Arabic Instructor for Non-Native Speakers | مدرس تجويد ولغة عربية وقرآن للأعاجم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