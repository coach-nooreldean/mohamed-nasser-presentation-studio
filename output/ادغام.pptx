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960120"/>
            <a:ext cx="4023360" cy="4937760"/>
          </a:xfrm>
          <a:prstGeom prst="roundRect">
            <a:avLst/>
          </a:prstGeom>
          <a:solidFill>
            <a:srgbClr val="131D31"/>
          </a:solidFill>
          <a:ln w="2286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eacher_avatar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05840"/>
            <a:ext cx="3931920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120640" y="1005840"/>
            <a:ext cx="6309360" cy="402336"/>
          </a:xfrm>
          <a:prstGeom prst="roundRect">
            <a:avLst/>
          </a:prstGeom>
          <a:solidFill>
            <a:srgbClr val="1A263E"/>
          </a:solidFill>
          <a:ln w="1524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/>
          <a:lstStyle/>
          <a:p>
            <a:pPr algn="ctr" rtl="1">
              <a:spcAft>
                <a:spcPts val="400"/>
              </a:spcAft>
            </a:pPr>
            <a:r>
              <a:rPr sz="1100" b="1" i="0">
                <a:solidFill>
                  <a:srgbClr val="FFB703"/>
                </a:solidFill>
                <a:latin typeface="Segoe UI"/>
                <a:cs typeface="Dubai"/>
              </a:rPr>
              <a:t>✦  دورة اللغة الإنجليزية المتخصصة • شروحات تفاعلية واحترافية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600200"/>
            <a:ext cx="6309360" cy="21031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  <a:cs typeface="Dubai"/>
              </a:rPr>
              <a:t>ادغام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38BDF8"/>
                </a:solidFill>
                <a:latin typeface="Segoe UI"/>
                <a:cs typeface="Segoe UI"/>
              </a:rPr>
              <a:t>Visual Explanations, Dynamic Cartoons, and Native Fluency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3977639"/>
            <a:ext cx="6309360" cy="192024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r" rtl="1">
              <a:spcAft>
                <a:spcPts val="400"/>
              </a:spcAft>
            </a:pPr>
            <a:r>
              <a:rPr sz="1100" b="1" i="0">
                <a:solidFill>
                  <a:srgbClr val="FFB703"/>
                </a:solidFill>
                <a:latin typeface="Segoe UI"/>
                <a:cs typeface="Dubai"/>
              </a:rPr>
              <a:t>المُحاضر والمعلم المعتمد</a:t>
            </a:r>
          </a:p>
          <a:p>
            <a:pPr algn="r" rtl="1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  <a:cs typeface="Dubai"/>
              </a:rPr>
              <a:t>مستر محمد ناصر بدوي</a:t>
            </a:r>
          </a:p>
          <a:p>
            <a:pPr algn="r" rtl="1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Dubai"/>
              </a:rPr>
              <a:t>معلم لغة إنجليزية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47472"/>
            <a:ext cx="3108960" cy="347472"/>
          </a:xfrm>
          <a:prstGeom prst="roundRect">
            <a:avLst/>
          </a:prstGeom>
          <a:solidFill>
            <a:srgbClr val="1A263E"/>
          </a:solidFill>
          <a:ln w="1778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 rtl="1">
              <a:spcAft>
                <a:spcPts val="400"/>
              </a:spcAft>
            </a:pPr>
            <a:r>
              <a:rPr sz="1000" b="1" i="0">
                <a:solidFill>
                  <a:srgbClr val="FFB703"/>
                </a:solidFill>
                <a:latin typeface="Segoe UI"/>
                <a:cs typeface="Dubai"/>
              </a:rPr>
              <a:t>✦  محاور الدرس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7772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  <a:cs typeface="Dubai"/>
              </a:rPr>
              <a:t>خريطة الدرس والمحاور الرئيسية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10728655" cy="22860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99616"/>
            <a:ext cx="2011680" cy="36576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2453563" cy="438912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B703"/>
                </a:solidFill>
                <a:latin typeface="Segoe UI"/>
                <a:cs typeface="Segoe UI"/>
              </a:rPr>
              <a:t>01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1. Visual Action Verbs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Cartoon action scenarios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Core meaning &amp; prepositions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3683" y="1828800"/>
            <a:ext cx="2453563" cy="438912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B703"/>
                </a:solidFill>
                <a:latin typeface="Segoe UI"/>
                <a:cs typeface="Segoe UI"/>
              </a:rPr>
              <a:t>02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2. Time &amp; Perspective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Present Perfect vs Past Simple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When to use each tense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5847" y="1828800"/>
            <a:ext cx="2453563" cy="438912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B703"/>
                </a:solidFill>
                <a:latin typeface="Segoe UI"/>
                <a:cs typeface="Segoe UI"/>
              </a:rPr>
              <a:t>03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3. Tense Matrix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Side-by-side comparison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Key time markers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011" y="1828800"/>
            <a:ext cx="2453563" cy="438912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B703"/>
                </a:solidFill>
                <a:latin typeface="Segoe UI"/>
                <a:cs typeface="Segoe UI"/>
              </a:rPr>
              <a:t>04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4. Fluency Formula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Step-by-step sentence building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Common mistakes to avoid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 build="asOne"/>
      <p:bldGraphic spid="10" grpId="0" build="asOne"/>
      <p:bldGraphic spid="11" grpId="0" build="asOne"/>
      <p:bldGraphic spid="12" grpId="0" build="asOne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728655" cy="7772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  <a:cs typeface="Segoe UI"/>
              </a:rPr>
              <a:t>Present Perfect Tense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22860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99616"/>
            <a:ext cx="2011680" cy="36576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4389120" cy="448056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esent_perfec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65960"/>
            <a:ext cx="4023360" cy="41605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94960" y="1783080"/>
            <a:ext cx="3291840" cy="329184"/>
          </a:xfrm>
          <a:prstGeom prst="roundRect">
            <a:avLst/>
          </a:prstGeom>
          <a:solidFill>
            <a:srgbClr val="1A263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8BDF8"/>
                </a:solidFill>
                <a:latin typeface="Segoe UI"/>
                <a:cs typeface="Segoe UI"/>
              </a:rPr>
              <a:t>🗣  /ˈprez.ənt ˈpɜː.fɪkt/ • (have / has + V3)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2212848"/>
            <a:ext cx="6065215" cy="128016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r" rtl="1">
              <a:spcAft>
                <a:spcPts val="300"/>
              </a:spcAft>
            </a:pPr>
            <a:r>
              <a:rPr sz="1100" b="1" i="0">
                <a:solidFill>
                  <a:srgbClr val="FFB703"/>
                </a:solidFill>
                <a:latin typeface="Segoe UI"/>
                <a:cs typeface="Dubai"/>
              </a:rPr>
              <a:t>المعنى والقاعدة الأساسية: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1F5F9"/>
                </a:solidFill>
                <a:latin typeface="Segoe UI"/>
                <a:cs typeface="Segoe UI"/>
              </a:rPr>
              <a:t>Connects past actions directly to the present moment. We use it when the exact past time doesn't matter, but the result is visible NOW.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3611880"/>
            <a:ext cx="6065215" cy="141732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r" rtl="1">
              <a:spcAft>
                <a:spcPts val="300"/>
              </a:spcAft>
            </a:pPr>
            <a:r>
              <a:rPr sz="1100" b="1" i="0">
                <a:solidFill>
                  <a:srgbClr val="38BDF8"/>
                </a:solidFill>
                <a:latin typeface="Segoe UI"/>
                <a:cs typeface="Dubai"/>
              </a:rPr>
              <a:t>أهم نقاط التركيز والاستخدام: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Structure: Subject + have / has + Past Participle (V3).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Keywords: already, just, yet, ever, never, recently, since, for.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Focuses on life experiences and ongoing states.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5138928"/>
            <a:ext cx="6065215" cy="1170432"/>
          </a:xfrm>
          <a:prstGeom prst="roundRect">
            <a:avLst/>
          </a:prstGeom>
          <a:solidFill>
            <a:srgbClr val="101F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r" rtl="1">
              <a:spcAft>
                <a:spcPts val="200"/>
              </a:spcAft>
            </a:pPr>
            <a:r>
              <a:rPr sz="1100" b="1" i="0">
                <a:solidFill>
                  <a:srgbClr val="10B981"/>
                </a:solidFill>
                <a:latin typeface="Segoe UI"/>
                <a:cs typeface="Dubai"/>
              </a:rPr>
              <a:t>💡 مثال عملي تطبيقي: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cs typeface="Segoe UI"/>
              </a:rPr>
              <a:t>“ I have already finished my assignment, so I can relax! ”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 build="asOne"/>
      <p:bldGraphic spid="11" grpId="0" build="asOne"/>
      <p:bldGraphic spid="12" grpId="0" build="asOne"/>
      <p:bldGraphic spid="13" grpId="0" build="asOne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728655" cy="7772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  <a:cs typeface="Segoe UI"/>
              </a:rPr>
              <a:t>Phrasal Verb: Look After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22860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99616"/>
            <a:ext cx="2011680" cy="36576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4389120" cy="448056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ok_af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65960"/>
            <a:ext cx="4023360" cy="41605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94960" y="1783080"/>
            <a:ext cx="3291840" cy="329184"/>
          </a:xfrm>
          <a:prstGeom prst="roundRect">
            <a:avLst/>
          </a:prstGeom>
          <a:solidFill>
            <a:srgbClr val="1A263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8BDF8"/>
                </a:solidFill>
                <a:latin typeface="Segoe UI"/>
                <a:cs typeface="Segoe UI"/>
              </a:rPr>
              <a:t>🗣  /lʊk ˈɑːf.tər/ • Verb + Preposition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2212848"/>
            <a:ext cx="6065215" cy="128016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r" rtl="1">
              <a:spcAft>
                <a:spcPts val="300"/>
              </a:spcAft>
            </a:pPr>
            <a:r>
              <a:rPr sz="1100" b="1" i="0">
                <a:solidFill>
                  <a:srgbClr val="FFB703"/>
                </a:solidFill>
                <a:latin typeface="Segoe UI"/>
                <a:cs typeface="Dubai"/>
              </a:rPr>
              <a:t>المعنى والقاعدة الأساسية: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1F5F9"/>
                </a:solidFill>
                <a:latin typeface="Segoe UI"/>
                <a:cs typeface="Segoe UI"/>
              </a:rPr>
              <a:t>Means to take care of someone or something, providing attention, food, or safety.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3611880"/>
            <a:ext cx="6065215" cy="141732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r" rtl="1">
              <a:spcAft>
                <a:spcPts val="300"/>
              </a:spcAft>
            </a:pPr>
            <a:r>
              <a:rPr sz="1100" b="1" i="0">
                <a:solidFill>
                  <a:srgbClr val="38BDF8"/>
                </a:solidFill>
                <a:latin typeface="Segoe UI"/>
                <a:cs typeface="Dubai"/>
              </a:rPr>
              <a:t>أهم نقاط التركيز والاستخدام: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Synonyms: Care for, nurse, protect, attend to.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Common collocations: look after children, look after pets, look after yourself.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Inseparable verb: the object comes right after the preposition.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5138928"/>
            <a:ext cx="6065215" cy="1170432"/>
          </a:xfrm>
          <a:prstGeom prst="roundRect">
            <a:avLst/>
          </a:prstGeom>
          <a:solidFill>
            <a:srgbClr val="101F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r" rtl="1">
              <a:spcAft>
                <a:spcPts val="200"/>
              </a:spcAft>
            </a:pPr>
            <a:r>
              <a:rPr sz="1100" b="1" i="0">
                <a:solidFill>
                  <a:srgbClr val="10B981"/>
                </a:solidFill>
                <a:latin typeface="Segoe UI"/>
                <a:cs typeface="Dubai"/>
              </a:rPr>
              <a:t>💡 مثال عملي تطبيقي: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cs typeface="Segoe UI"/>
              </a:rPr>
              <a:t>“ Can you please look after my cat while I am traveling? ”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 build="asOne"/>
      <p:bldGraphic spid="11" grpId="0" build="asOne"/>
      <p:bldGraphic spid="12" grpId="0" build="asOne"/>
      <p:bldGraphic spid="13" grpId="0" build="asOne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47472"/>
            <a:ext cx="3108960" cy="347472"/>
          </a:xfrm>
          <a:prstGeom prst="roundRect">
            <a:avLst/>
          </a:prstGeom>
          <a:solidFill>
            <a:srgbClr val="1A263E"/>
          </a:solidFill>
          <a:ln w="1778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FFB703"/>
                </a:solidFill>
                <a:latin typeface="Segoe UI"/>
                <a:cs typeface="Segoe UI"/>
              </a:rPr>
              <a:t>✦  مصفوفة المقارنة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7772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  <a:cs typeface="Segoe UI"/>
              </a:rPr>
              <a:t>Tense Matrix: Present Perfect vs Past Simple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10728655" cy="22860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99616"/>
            <a:ext cx="2011680" cy="36576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82880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9"/>
              </a:tblGrid>
              <a:tr h="1097280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500" b="1" i="0">
                          <a:solidFill>
                            <a:srgbClr val="FFB703"/>
                          </a:solidFill>
                          <a:latin typeface="Segoe UI"/>
                          <a:cs typeface="Segoe UI"/>
                        </a:rPr>
                        <a:t>Grammar Dimension</a:t>
                      </a:r>
                    </a:p>
                  </a:txBody>
                  <a:tcPr anchor="ctr" marL="109728" marR="109728">
                    <a:solidFill>
                      <a:srgbClr val="1A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500" b="1" i="0">
                          <a:solidFill>
                            <a:srgbClr val="38BDF8"/>
                          </a:solidFill>
                          <a:latin typeface="Segoe UI"/>
                          <a:cs typeface="Segoe UI"/>
                        </a:rPr>
                        <a:t>Present Perfect (have + V3)</a:t>
                      </a:r>
                    </a:p>
                  </a:txBody>
                  <a:tcPr anchor="ctr" marL="109728" marR="109728">
                    <a:solidFill>
                      <a:srgbClr val="101F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500" b="1" i="0">
                          <a:solidFill>
                            <a:srgbClr val="38BDF8"/>
                          </a:solidFill>
                          <a:latin typeface="Segoe UI"/>
                          <a:cs typeface="Segoe UI"/>
                        </a:rPr>
                        <a:t>Past Simple (V2)</a:t>
                      </a:r>
                    </a:p>
                  </a:txBody>
                  <a:tcPr anchor="ctr" marL="109728" marR="109728">
                    <a:solidFill>
                      <a:srgbClr val="1A263E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Time Connection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Connected to the present; result matters now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Finished action in a completed time period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Time Markers</a:t>
                      </a:r>
                    </a:p>
                  </a:txBody>
                  <a:tcPr anchor="ctr" marL="109728" marR="109728"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Already, yet, ever, just, since, for</a:t>
                      </a:r>
                    </a:p>
                  </a:txBody>
                  <a:tcPr anchor="ctr" marL="109728" marR="109728"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Yesterday, last year, in 2022, two days ago</a:t>
                      </a:r>
                    </a:p>
                  </a:txBody>
                  <a:tcPr anchor="ctr" marL="109728" marR="109728">
                    <a:solidFill>
                      <a:srgbClr val="0A1128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Living in London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I have lived in London for 5 years (still there)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I lived in London in 2018 (not there anymore)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47472"/>
            <a:ext cx="3108960" cy="347472"/>
          </a:xfrm>
          <a:prstGeom prst="roundRect">
            <a:avLst/>
          </a:prstGeom>
          <a:solidFill>
            <a:srgbClr val="1A263E"/>
          </a:solidFill>
          <a:ln w="1778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FFB703"/>
                </a:solidFill>
                <a:latin typeface="Segoe UI"/>
                <a:cs typeface="Segoe UI"/>
              </a:rPr>
              <a:t>✦  خطوات التطبيق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7772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  <a:cs typeface="Segoe UI"/>
              </a:rPr>
              <a:t>The 3-Step Native Sentence Builder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10728655" cy="22860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99616"/>
            <a:ext cx="2011680" cy="36576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011680"/>
            <a:ext cx="3301898" cy="411480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r" rtl="1">
              <a:spcAft>
                <a:spcPts val="400"/>
              </a:spcAft>
            </a:pPr>
            <a:r>
              <a:rPr sz="1200" b="1" i="0">
                <a:solidFill>
                  <a:srgbClr val="FFB703"/>
                </a:solidFill>
                <a:latin typeface="Segoe UI"/>
                <a:cs typeface="Dubai"/>
              </a:rPr>
              <a:t>الخطوة 01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1. Pick the Perspective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Is the result active right now, or completely closed in the past?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8BDF8"/>
                </a:solidFill>
                <a:latin typeface="Segoe UI"/>
                <a:cs typeface="Segoe UI"/>
              </a:rPr>
              <a:t>💡 Current vs Finished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2011680"/>
            <a:ext cx="3301898" cy="411480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r" rtl="1">
              <a:spcAft>
                <a:spcPts val="400"/>
              </a:spcAft>
            </a:pPr>
            <a:r>
              <a:rPr sz="1200" b="1" i="0">
                <a:solidFill>
                  <a:srgbClr val="FFB703"/>
                </a:solidFill>
                <a:latin typeface="Segoe UI"/>
                <a:cs typeface="Dubai"/>
              </a:rPr>
              <a:t>الخطوة 02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2. Select Auxiliary Verb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Use have/has for perfect, or drop directly to V2 for past.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8BDF8"/>
                </a:solidFill>
                <a:latin typeface="Segoe UI"/>
                <a:cs typeface="Segoe UI"/>
              </a:rPr>
              <a:t>💡 have/has + V3 vs V2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83956" y="2011680"/>
            <a:ext cx="3301898" cy="411480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r" rtl="1">
              <a:spcAft>
                <a:spcPts val="400"/>
              </a:spcAft>
            </a:pPr>
            <a:r>
              <a:rPr sz="1200" b="1" i="0">
                <a:solidFill>
                  <a:srgbClr val="FFB703"/>
                </a:solidFill>
                <a:latin typeface="Segoe UI"/>
                <a:cs typeface="Dubai"/>
              </a:rPr>
              <a:t>الخطوة 03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3. Add Time Polish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Use natural adverbs like 'already', 'recently', or 'yesterday'.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8BDF8"/>
                </a:solidFill>
                <a:latin typeface="Segoe UI"/>
                <a:cs typeface="Segoe UI"/>
              </a:rPr>
              <a:t>💡 Place adverb naturally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 build="asOne"/>
      <p:bldGraphic spid="10" grpId="0" build="asOne"/>
      <p:bldGraphic spid="11" grpId="0" build="asOne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931920" y="411480"/>
            <a:ext cx="4327855" cy="347472"/>
          </a:xfrm>
          <a:prstGeom prst="roundRect">
            <a:avLst/>
          </a:prstGeom>
          <a:solidFill>
            <a:srgbClr val="1A263E"/>
          </a:solidFill>
          <a:ln w="1524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spcAft>
                <a:spcPts val="400"/>
              </a:spcAft>
            </a:pPr>
            <a:r>
              <a:rPr sz="1000" b="1" i="0">
                <a:solidFill>
                  <a:srgbClr val="FFB703"/>
                </a:solidFill>
                <a:latin typeface="Segoe UI"/>
                <a:cs typeface="Dubai"/>
              </a:rPr>
              <a:t>🌟  بالتوفيق والنجاح الدائم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822960"/>
            <a:ext cx="1036289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  <a:cs typeface="Dubai"/>
              </a:rPr>
              <a:t>مع تمنياتي لكم بالتفوق والنجاح المستمر دائمًا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508760"/>
            <a:ext cx="9997135" cy="12801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64592" bIns="164592"/>
          <a:lstStyle/>
          <a:p>
            <a:pPr algn="ctr" rtl="1">
              <a:spcAft>
                <a:spcPts val="400"/>
              </a:spcAft>
            </a:pPr>
            <a:r>
              <a:rPr sz="1600" b="1" i="0">
                <a:solidFill>
                  <a:srgbClr val="FFB703"/>
                </a:solidFill>
                <a:latin typeface="Segoe UI"/>
                <a:cs typeface="Dubai"/>
              </a:rPr>
              <a:t>قال رسول الله ﷺ: «خَيْرُكُمْ مَنْ تَعَلَّمَ الْقُرْآنَ وَعَلَّمَهُ»</a:t>
            </a:r>
          </a:p>
          <a:p>
            <a:pPr algn="ctr" rtl="1">
              <a:spcAft>
                <a:spcPts val="400"/>
              </a:spcAft>
            </a:pPr>
            <a:r>
              <a:rPr sz="1300" b="0" i="1">
                <a:solidFill>
                  <a:srgbClr val="38BDF8"/>
                </a:solidFill>
                <a:latin typeface="Segoe UI"/>
                <a:cs typeface="Dubai"/>
              </a:rPr>
              <a:t>«التعلم رحلة مستمرة.. استمر في التدريب والتطبيق دائماً»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926080"/>
            <a:ext cx="4892040" cy="1645920"/>
          </a:xfrm>
          <a:prstGeom prst="roundRect">
            <a:avLst/>
          </a:prstGeom>
          <a:solidFill>
            <a:srgbClr val="101F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/>
          <a:lstStyle/>
          <a:p>
            <a:pPr algn="ctr" rtl="1">
              <a:spcAft>
                <a:spcPts val="400"/>
              </a:spcAft>
            </a:pPr>
            <a:r>
              <a:rPr sz="1100" b="1" i="0">
                <a:solidFill>
                  <a:srgbClr val="10B981"/>
                </a:solidFill>
                <a:latin typeface="Segoe UI"/>
                <a:cs typeface="Dubai"/>
              </a:rPr>
              <a:t>📱 واتساب الحصص والمتابعة المباشرة</a:t>
            </a:r>
          </a:p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  <a:cs typeface="Segoe UI"/>
              </a:rPr>
              <a:t>+201159330109</a:t>
            </a:r>
          </a:p>
          <a:p>
            <a:pPr algn="ctr" rtl="1">
              <a:spcAft>
                <a:spcPts val="400"/>
              </a:spcAft>
            </a:pPr>
            <a:r>
              <a:rPr sz="1100" b="0" i="0">
                <a:solidFill>
                  <a:srgbClr val="CBD5E1"/>
                </a:solidFill>
                <a:latin typeface="Segoe UI"/>
                <a:cs typeface="Dubai"/>
              </a:rPr>
              <a:t>للتواصل المباشر وحجز الدروس والمراجعات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2375" y="2926080"/>
            <a:ext cx="4892040" cy="1645920"/>
          </a:xfrm>
          <a:prstGeom prst="roundRect">
            <a:avLst/>
          </a:prstGeom>
          <a:solidFill>
            <a:srgbClr val="101F3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/>
          <a:lstStyle/>
          <a:p>
            <a:pPr algn="ctr" rtl="1">
              <a:spcAft>
                <a:spcPts val="400"/>
              </a:spcAft>
            </a:pPr>
            <a:r>
              <a:rPr sz="1100" b="1" i="0">
                <a:solidFill>
                  <a:srgbClr val="38BDF8"/>
                </a:solidFill>
                <a:latin typeface="Segoe UI"/>
                <a:cs typeface="Dubai"/>
              </a:rPr>
              <a:t>🌐 الصفحة الرسمية للمتابعة</a:t>
            </a:r>
          </a:p>
          <a:p>
            <a:pPr algn="ctr" rtl="1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  <a:cs typeface="Dubai"/>
              </a:rPr>
              <a:t>مستر محمد ناصر بدوي</a:t>
            </a:r>
          </a:p>
          <a:p>
            <a:pPr algn="ctr" rtl="1">
              <a:spcAft>
                <a:spcPts val="400"/>
              </a:spcAft>
            </a:pPr>
            <a:r>
              <a:rPr sz="1100" b="0" i="0">
                <a:solidFill>
                  <a:srgbClr val="CBD5E1"/>
                </a:solidFill>
                <a:latin typeface="Segoe UI"/>
                <a:cs typeface="Dubai"/>
              </a:rPr>
              <a:t>تابع أحدث الشروحات والتدريبات اليومية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709160"/>
            <a:ext cx="9997135" cy="1463040"/>
          </a:xfrm>
          <a:prstGeom prst="roundRect">
            <a:avLst/>
          </a:prstGeom>
          <a:solidFill>
            <a:srgbClr val="1A263E"/>
          </a:solidFill>
          <a:ln w="1524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01168"/>
          <a:lstStyle/>
          <a:p>
            <a:pPr algn="ctr" rtl="1">
              <a:spcAft>
                <a:spcPts val="600"/>
              </a:spcAft>
            </a:pPr>
            <a:r>
              <a:rPr sz="2200" b="1" i="0">
                <a:solidFill>
                  <a:srgbClr val="FFB703"/>
                </a:solidFill>
                <a:latin typeface="Segoe UI"/>
                <a:cs typeface="Dubai"/>
              </a:rPr>
              <a:t>مستر محمد ناصر بدوي</a:t>
            </a:r>
          </a:p>
          <a:p>
            <a:pPr algn="ctr" rtl="1">
              <a:spcAft>
                <a:spcPts val="400"/>
              </a:spcAft>
            </a:pPr>
            <a:r>
              <a:rPr sz="1400" b="0" i="0">
                <a:solidFill>
                  <a:srgbClr val="CBD5E1"/>
                </a:solidFill>
                <a:latin typeface="Segoe UI"/>
                <a:cs typeface="Dubai"/>
              </a:rPr>
              <a:t>معلم لغة إنجليزية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